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1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8"/>
  </p:notesMasterIdLst>
  <p:sldIdLst>
    <p:sldId id="256" r:id="rId5"/>
    <p:sldId id="265" r:id="rId27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60" r:id="rId9"/>
    <p:sldId id="277" r:id="rId40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6" r:id="rId49"/>
    <p:sldId id="287" r:id="rId50"/>
    <p:sldId id="288" r:id="rId51"/>
    <p:sldId id="289" r:id="rId52"/>
  </p:sldIdLst>
  <p:sldSz cx="18288000" cy="10287000"/>
  <p:notesSz cx="6858000" cy="9144000"/>
  <p:embeddedFontLst>
    <p:embeddedFont>
      <p:font typeface="National Bold" panose="020B0604020202020204" charset="0"/>
      <p:regular r:id="rId14"/>
      <p:bold r:id="rId15"/>
    </p:embeddedFont>
    <p:embeddedFont>
      <p:font typeface="Newzald Bold" panose="02000504000000020004" charset="0"/>
      <p:regular r:id="rId16"/>
      <p:bold r:id="rId17"/>
      <p:italic r:id="rId18"/>
      <p:boldItalic r:id="rId19"/>
    </p:embeddedFont>
    <p:embeddedFont>
      <p:font typeface="Newzald Light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D088D4-9A55-4B33-8269-2286028F93CD}" v="5" dt="2024-08-22T05:30:15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Relationship Id="rId27" Type="http://schemas.openxmlformats.org/officeDocument/2006/relationships/slide" Target="slides/slide10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slide" Target="slides/slide26.xml"/><Relationship Id="rId45" Type="http://schemas.openxmlformats.org/officeDocument/2006/relationships/slide" Target="slides/slide27.xml"/><Relationship Id="rId46" Type="http://schemas.openxmlformats.org/officeDocument/2006/relationships/slide" Target="slides/slide28.xml"/><Relationship Id="rId47" Type="http://schemas.openxmlformats.org/officeDocument/2006/relationships/slide" Target="slides/slide29.xml"/><Relationship Id="rId48" Type="http://schemas.openxmlformats.org/officeDocument/2006/relationships/slide" Target="slides/slide30.xml"/><Relationship Id="rId49" Type="http://schemas.openxmlformats.org/officeDocument/2006/relationships/slide" Target="slides/slide31.xml"/><Relationship Id="rId50" Type="http://schemas.openxmlformats.org/officeDocument/2006/relationships/slide" Target="slides/slide32.xml"/><Relationship Id="rId51" Type="http://schemas.openxmlformats.org/officeDocument/2006/relationships/slide" Target="slides/slide33.xml"/><Relationship Id="rId52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Duane" userId="fcf014aa-a488-4053-9fdf-71a3de7d84d2" providerId="ADAL" clId="{4FD088D4-9A55-4B33-8269-2286028F93CD}"/>
    <pc:docChg chg="modSld">
      <pc:chgData name="Emily Duane" userId="fcf014aa-a488-4053-9fdf-71a3de7d84d2" providerId="ADAL" clId="{4FD088D4-9A55-4B33-8269-2286028F93CD}" dt="2024-08-22T05:30:15.222" v="4" actId="20577"/>
      <pc:docMkLst>
        <pc:docMk/>
      </pc:docMkLst>
      <pc:sldChg chg="modSp mod">
        <pc:chgData name="Emily Duane" userId="fcf014aa-a488-4053-9fdf-71a3de7d84d2" providerId="ADAL" clId="{4FD088D4-9A55-4B33-8269-2286028F93CD}" dt="2024-08-22T05:30:15.222" v="4" actId="20577"/>
        <pc:sldMkLst>
          <pc:docMk/>
          <pc:sldMk cId="0" sldId="256"/>
        </pc:sldMkLst>
        <pc:spChg chg="mod">
          <ac:chgData name="Emily Duane" userId="fcf014aa-a488-4053-9fdf-71a3de7d84d2" providerId="ADAL" clId="{4FD088D4-9A55-4B33-8269-2286028F93CD}" dt="2024-08-22T05:30:15.222" v="4" actId="20577"/>
          <ac:spMkLst>
            <pc:docMk/>
            <pc:sldMk cId="0" sldId="256"/>
            <ac:spMk id="1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[1:10]</a:t>
            </a:r>
          </a:p>
          <a:p>
            <a:r>
              <a:t>My reference point for the state of the art is the Luthey-Schulten lab's 4D</a:t>
            </a:r>
          </a:p>
          <a:p>
            <a:r>
              <a:t>model, published in Cell this year. 493 genes, four coupled solvers — RDME, CME,</a:t>
            </a:r>
          </a:p>
          <a:p>
            <a:r>
              <a:t>ODE metabolism, Brownian dynamics — on GPU, over a full cell cycle.</a:t>
            </a:r>
          </a:p>
          <a:p/>
          <a:p>
            <a:r>
              <a:t>This is genuinely impressive work and I want to be clear that what follows is</a:t>
            </a:r>
          </a:p>
          <a:p>
            <a:r>
              <a:t>not a criticism of it. It answers the question it set out to answer: can we</a:t>
            </a:r>
          </a:p>
          <a:p>
            <a:r>
              <a:t>simulate a complete minimal cell in four dimensions.</a:t>
            </a:r>
          </a:p>
          <a:p/>
          <a:p>
            <a:r>
              <a:t>But look at the shape of the computation. Parameters go in, predictions come</a:t>
            </a:r>
          </a:p>
          <a:p>
            <a:r>
              <a:t>out. Roughly a thousand parameters, each entered as a single number. The plot</a:t>
            </a:r>
          </a:p>
          <a:p>
            <a:r>
              <a:t>on the right is a prediction of ribosome assembly over the cell cycle — and the</a:t>
            </a:r>
          </a:p>
          <a:p>
            <a:r>
              <a:t>spread you see there is stochastic variation between runs, not uncertainty</a:t>
            </a:r>
          </a:p>
          <a:p>
            <a:r>
              <a:t>about the parameters.</a:t>
            </a:r>
          </a:p>
          <a:p/>
          <a:p>
            <a:r>
              <a:t>Transition: because the parameters themselves are not 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</a:t>
            </a:r>
          </a:p>
          <a:p>
            <a:r>
              <a:t>Every one of those thousand numbers came from someone, somewhere, doing an</a:t>
            </a:r>
          </a:p>
          <a:p>
            <a:r>
              <a:t>experiment on something — and then a statistical analysis that produced a</a:t>
            </a:r>
          </a:p>
          <a:p>
            <a:r>
              <a:t>number with an error bar. The error bar is what gets dropped.</a:t>
            </a:r>
          </a:p>
          <a:p/>
          <a:p>
            <a:r>
              <a:t>Often the measurement is in a different organism. Transcription rates measured</a:t>
            </a:r>
          </a:p>
          <a:p>
            <a:r>
              <a:t>in E. coli, applied to syn3A. Degradation rates extrapolated from</a:t>
            </a:r>
          </a:p>
          <a:p>
            <a:r>
              <a:t>M. pneumoniae.</a:t>
            </a:r>
          </a:p>
          <a:p/>
          <a:p>
            <a:r>
              <a:t>Note this is epistemic uncertainty — uncertainty about the parameter, not</a:t>
            </a:r>
          </a:p>
          <a:p>
            <a:r>
              <a:t>stochastic variation in the cell. Two different things, and only one of them</a:t>
            </a:r>
          </a:p>
          <a:p>
            <a:r>
              <a:t>shows up in an ensemble of forward runs.</a:t>
            </a:r>
          </a:p>
          <a:p/>
          <a:p>
            <a:r>
              <a:t>And it propagates nonlinearly. Take the simplest possible model: mRNA</a:t>
            </a:r>
          </a:p>
          <a:p>
            <a:r>
              <a:t>production and decay. Steady state is just k_tx over gamma. A factor of six on</a:t>
            </a:r>
          </a:p>
          <a:p>
            <a:r>
              <a:t>one, a factor of four on the other, and the steady state spans 5 to 120 copies</a:t>
            </a:r>
          </a:p>
          <a:p>
            <a:r>
              <a:t>— a 24-fold range, from two parameters and one equation.</a:t>
            </a:r>
          </a:p>
          <a:p/>
          <a:p>
            <a:r>
              <a:t>Transition: so why not just propagate it? Because of where those numbers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[1:05]</a:t>
            </a:r>
          </a:p>
          <a:p>
            <a:r>
              <a:t>This is the structural part of the argument, and it's the bit I'd most like to</a:t>
            </a:r>
          </a:p>
          <a:p>
            <a:r>
              <a:t>convince you of.</a:t>
            </a:r>
          </a:p>
          <a:p/>
          <a:p>
            <a:r>
              <a:t>Each subsystem is calibrated on its own experiment. Each fit is collapsed to a</a:t>
            </a:r>
          </a:p>
          <a:p>
            <a:r>
              <a:t>point estimate. The point estimates are assembled into the whole-cell model,</a:t>
            </a:r>
          </a:p>
          <a:p>
            <a:r>
              <a:t>which is run forward to a prediction.</a:t>
            </a:r>
          </a:p>
          <a:p/>
          <a:p>
            <a:r>
              <a:t>Two things die here. First, uncertainty is discarded at every arrow — by the</a:t>
            </a:r>
          </a:p>
          <a:p>
            <a:r>
              <a:t>time you reach the prediction there is nothing left to propagate. Second, and</a:t>
            </a:r>
          </a:p>
          <a:p>
            <a:r>
              <a:t>less obvious: because each subsystem is fitted in isolation, the coupling is</a:t>
            </a:r>
          </a:p>
          <a:p>
            <a:r>
              <a:t>invisible during fitting. A combination of parameters that is jointly plausible</a:t>
            </a:r>
          </a:p>
          <a:p>
            <a:r>
              <a:t>once the modules talk to each other may never be found.</a:t>
            </a:r>
          </a:p>
          <a:p/>
          <a:p>
            <a:r>
              <a:t>And you can't fix this by bolting on a sampler. If the model stores parameters</a:t>
            </a:r>
          </a:p>
          <a:p>
            <a:r>
              <a:t>as floats, there is nowhere to put a distribution. The gap is semantic.</a:t>
            </a:r>
          </a:p>
          <a:p/>
          <a:p>
            <a:r>
              <a:t>Transition: so let's change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</a:t>
            </a:r>
          </a:p>
          <a:p>
            <a:r>
              <a:t>Forward simulation asks: given the parameters, what does the cell do?</a:t>
            </a:r>
          </a:p>
          <a:p/>
          <a:p>
            <a:r>
              <a:t>Inference asks the inverse: given the data, which parameters are consistent</a:t>
            </a:r>
          </a:p>
          <a:p>
            <a:r>
              <a:t>with it? The output is not a trajectory — it's a posterior distribution.</a:t>
            </a:r>
          </a:p>
          <a:p/>
          <a:p>
            <a:r>
              <a:t>That one change is what buys you uncertainty quantification, calibration,</a:t>
            </a:r>
          </a:p>
          <a:p>
            <a:r>
              <a:t>identifiability, model comparison, experimental design. All of it follows from</a:t>
            </a:r>
          </a:p>
          <a:p>
            <a:r>
              <a:t>having a posterior instead of a point.</a:t>
            </a:r>
          </a:p>
          <a:p/>
          <a:p>
            <a:r>
              <a:t>The catch is that you can't retrofit it. Which is why we started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[1:05]</a:t>
            </a:r>
          </a:p>
          <a:p>
            <a:r>
              <a:t>Four principles.</a:t>
            </a:r>
          </a:p>
          <a:p/>
          <a:p>
            <a:r>
              <a:t>Inference-first: the framework is organised around the posterior, not the</a:t>
            </a:r>
          </a:p>
          <a:p>
            <a:r>
              <a:t>trajectory. UQ is not a feature we add later.</a:t>
            </a:r>
          </a:p>
          <a:p/>
          <a:p>
            <a:r>
              <a:t>Modular: a module is defined by a contract — states, parameters with priors,</a:t>
            </a:r>
          </a:p>
          <a:p>
            <a:r>
              <a:t>dynamics, and a declared inference mode. Swap an ODE metabolism module for a</a:t>
            </a:r>
          </a:p>
          <a:p>
            <a:r>
              <a:t>constraint-based one or a neural surrogate, and inference still works.</a:t>
            </a:r>
          </a:p>
          <a:p/>
          <a:p>
            <a:r>
              <a:t>The third one is the design discipline, and it's the sentence I'd most want you</a:t>
            </a:r>
          </a:p>
          <a:p>
            <a:r>
              <a:t>to remember. At every boundary in the system: how does inference cross this?</a:t>
            </a:r>
          </a:p>
          <a:p>
            <a:r>
              <a:t>If we can't answer that, the design is wrong. That single question rules out</a:t>
            </a:r>
          </a:p>
          <a:p>
            <a:r>
              <a:t>cross-language orchestration, black-box sub-models, and point-estimate</a:t>
            </a:r>
          </a:p>
          <a:p>
            <a:r>
              <a:t>handoffs.</a:t>
            </a:r>
          </a:p>
          <a:p/>
          <a:p>
            <a:r>
              <a:t>Fourth: one language. Julia, so that models, solvers and inference share one</a:t>
            </a:r>
          </a:p>
          <a:p>
            <a:r>
              <a:t>compiled graph and gradients compose. Happy to go into why not Python or JAX</a:t>
            </a:r>
          </a:p>
          <a:p>
            <a:r>
              <a:t>in questions — I have a backup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[1:20]</a:t>
            </a:r>
          </a:p>
          <a:p>
            <a:r>
              <a:t>This is the payoff slide, and it's the one I'd like to hear your reaction to.</a:t>
            </a:r>
          </a:p>
          <a:p/>
          <a:p>
            <a:r>
              <a:t>Probabilistic prediction: not "the doubling time is 110 minutes" but "110 plus</a:t>
            </a:r>
          </a:p>
          <a:p>
            <a:r>
              <a:t>or minus 5" — or, just as usefully, "somewhere between 60 and 200", which tells</a:t>
            </a:r>
          </a:p>
          <a:p>
            <a:r>
              <a:t>you the prediction isn't yet worth much.</a:t>
            </a:r>
          </a:p>
          <a:p/>
          <a:p>
            <a:r>
              <a:t>Calibration: learn the rate from data rather than importing it from another</a:t>
            </a:r>
          </a:p>
          <a:p>
            <a:r>
              <a:t>organism.</a:t>
            </a:r>
          </a:p>
          <a:p/>
          <a:p>
            <a:r>
              <a:t>Identifiability: this one is underrated. Often the data doesn't constrain k_tx</a:t>
            </a:r>
          </a:p>
          <a:p>
            <a:r>
              <a:t>and gamma separately — only their ratio. A posterior shows you that</a:t>
            </a:r>
          </a:p>
          <a:p>
            <a:r>
              <a:t>immediately; a point estimate hides it, and you go on believing you know both.</a:t>
            </a:r>
          </a:p>
          <a:p/>
          <a:p>
            <a:r>
              <a:t>Model selection: does the data actually prefer bursty transcription over</a:t>
            </a:r>
          </a:p>
          <a:p>
            <a:r>
              <a:t>constitutive? That's a Bayes factor, and it's a downstream calculation once you</a:t>
            </a:r>
          </a:p>
          <a:p>
            <a:r>
              <a:t>have posteriors.</a:t>
            </a:r>
          </a:p>
          <a:p/>
          <a:p>
            <a:r>
              <a:t>Experimental design: which measurement would most reduce uncertainty. You can</a:t>
            </a:r>
          </a:p>
          <a:p>
            <a:r>
              <a:t>answer that before you run the experiment, which is where I think the real</a:t>
            </a:r>
          </a:p>
          <a:p>
            <a:r>
              <a:t>value to experimentalists is.</a:t>
            </a:r>
          </a:p>
          <a:p/>
          <a:p>
            <a:r>
              <a:t>And at the bottom: does the data require enzyme feedback at all? That's a</a:t>
            </a:r>
          </a:p>
          <a:p>
            <a:r>
              <a:t>biological question you can only ask once the model is probabilistic.</a:t>
            </a:r>
          </a:p>
          <a:p/>
          <a:p>
            <a:r>
              <a:t>Transition: so how does it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[0:55]</a:t>
            </a:r>
          </a:p>
          <a:p>
            <a:r>
              <a:t>This is the slide I'd most like to leave you with, because it's the practical</a:t>
            </a:r>
          </a:p>
          <a:p>
            <a:r>
              <a:t>consequence of everything before it.</a:t>
            </a:r>
          </a:p>
          <a:p/>
          <a:p>
            <a:r>
              <a:t>Once you have a posterior, you can push it through the model and look at the</a:t>
            </a:r>
          </a:p>
          <a:p>
            <a:r>
              <a:t>spread on any output you care about. Predictions then sort themselves into two</a:t>
            </a:r>
          </a:p>
          <a:p>
            <a:r>
              <a:t>kinds.</a:t>
            </a:r>
          </a:p>
          <a:p/>
          <a:p>
            <a:r>
              <a:t>Some are robust: the output barely moves as you sweep across the posterior. You</a:t>
            </a:r>
          </a:p>
          <a:p>
            <a:r>
              <a:t>can trust that number regardless of what you don't know about the parameters.</a:t>
            </a:r>
          </a:p>
          <a:p/>
          <a:p>
            <a:r>
              <a:t>Others are fragile: the output swings wildly, because it depends on parameters</a:t>
            </a:r>
          </a:p>
          <a:p>
            <a:r>
              <a:t>the data doesn't constrain. That's not a failure — it's a finding. It tells you</a:t>
            </a:r>
          </a:p>
          <a:p>
            <a:r>
              <a:t>either to go and measure something, or that your model has more freedom than the</a:t>
            </a:r>
          </a:p>
          <a:p>
            <a:r>
              <a:t>biology warrants.</a:t>
            </a:r>
          </a:p>
          <a:p/>
          <a:p>
            <a:r>
              <a:t>And here's the thing: forward simulation never tells you which is which. Both of</a:t>
            </a:r>
          </a:p>
          <a:p>
            <a:r>
              <a:t>these come out of the same model in the same run, and on the surface every</a:t>
            </a:r>
          </a:p>
          <a:p>
            <a:r>
              <a:t>prediction looks equally confident.</a:t>
            </a:r>
          </a:p>
          <a:p/>
          <a:p>
            <a:r>
              <a:t>Transition: so how do we actually get the posterior.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</a:t>
            </a:r>
          </a:p>
          <a:p>
            <a:r>
              <a:t>Here's the technical core, and then I'll show you it working.</a:t>
            </a:r>
          </a:p>
          <a:p/>
          <a:p>
            <a:r>
              <a:t>A cell mixes two kinds of dynamics. Metabolism is well described by ODEs —</a:t>
            </a:r>
          </a:p>
          <a:p>
            <a:r>
              <a:t>smooth, differentiable, so gradients exist and you can use NUTS, which is</a:t>
            </a:r>
          </a:p>
          <a:p>
            <a:r>
              <a:t>orders of magnitude more sample-efficient than anything else.</a:t>
            </a:r>
          </a:p>
          <a:p/>
          <a:p>
            <a:r>
              <a:t>Gene expression with a bursty promoter is a jump process. Discrete, stochastic,</a:t>
            </a:r>
          </a:p>
          <a:p>
            <a:r>
              <a:t>no gradient path. There you need simulation-based inference — ABC-SMC today.</a:t>
            </a:r>
          </a:p>
          <a:p/>
          <a:p>
            <a:r>
              <a:t>No single method handles both. So the framework partitions the model into</a:t>
            </a:r>
          </a:p>
          <a:p>
            <a:r>
              <a:t>blocks by the inference mode each module declares, and runs the right method in</a:t>
            </a:r>
          </a:p>
          <a:p>
            <a:r>
              <a:t>each block.</a:t>
            </a:r>
          </a:p>
          <a:p/>
          <a:p>
            <a:r>
              <a:t>The interesting part is the red arrow. Two blocks, two different inference</a:t>
            </a:r>
          </a:p>
          <a:p>
            <a:r>
              <a:t>algorithms, and the uncertainty from one has to reach the other. That boundary</a:t>
            </a:r>
          </a:p>
          <a:p>
            <a:r>
              <a:t>is the actual research problem — and it's where our honest result comes from,</a:t>
            </a:r>
          </a:p>
          <a:p>
            <a:r>
              <a:t>which I'll get to in two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[1:25]</a:t>
            </a:r>
          </a:p>
          <a:p>
            <a:r>
              <a:t>Concretely, here's what runs today. Three modules. Transcription-translation</a:t>
            </a:r>
          </a:p>
          <a:p>
            <a:r>
              <a:t>and a light metabolism as ODEs in the differentiable block, inferred jointly</a:t>
            </a:r>
          </a:p>
          <a:p>
            <a:r>
              <a:t>with NUTS. A bursty gene-expression module — telegraph promoter — as a</a:t>
            </a:r>
          </a:p>
          <a:p>
            <a:r>
              <a:t>Gillespie process in the simulation block, inferred with ABC-SMC.</a:t>
            </a:r>
          </a:p>
          <a:p/>
          <a:p>
            <a:r>
              <a:t>Two things worth noting. The two blocks share parameters: k_tx, k_tl, and the</a:t>
            </a:r>
          </a:p>
          <a:p>
            <a:r>
              <a:t>two degradation rates appear in both. So the same biology is modelled two ways,</a:t>
            </a:r>
          </a:p>
          <a:p>
            <a:r>
              <a:t>by two different formalisms, inferred by two different algorithms — and we can</a:t>
            </a:r>
          </a:p>
          <a:p>
            <a:r>
              <a:t>ask whether the posteriors agree. That's a real consistency check, and I don't</a:t>
            </a:r>
          </a:p>
          <a:p>
            <a:r>
              <a:t>know of another framework that can pose it.</a:t>
            </a:r>
          </a:p>
          <a:p/>
          <a:p>
            <a:r>
              <a:t>About nine unique parameters after deduplication, all with priors. On the right</a:t>
            </a:r>
          </a:p>
          <a:p>
            <a:r>
              <a:t>is the joint posterior for the differentiable block on synthetic data. The truth</a:t>
            </a:r>
          </a:p>
          <a:p>
            <a:r>
              <a:t>is recovered on every parameter.</a:t>
            </a:r>
          </a:p>
          <a:p/>
          <a:p>
            <a:r>
              <a:t>This is a synthetic twin — we generated the data from the model we're fitting.</a:t>
            </a:r>
          </a:p>
          <a:p>
            <a:r>
              <a:t>That tests self-consistency, not biological correctness. I want to be precise</a:t>
            </a:r>
          </a:p>
          <a:p>
            <a:r>
              <a:t>about that, which brings me 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[1:20]</a:t>
            </a:r>
          </a:p>
          <a:p>
            <a:r>
              <a:t>I want to be straight with you about where this actually is, because I think</a:t>
            </a:r>
          </a:p>
          <a:p>
            <a:r>
              <a:t>the negative result is the most useful thing I have to report.</a:t>
            </a:r>
          </a:p>
          <a:p/>
          <a:p>
            <a:r>
              <a:t>Built: the ODE modules under joint NUTS, the stochastic module under ABC-SMC,</a:t>
            </a:r>
          </a:p>
          <a:p>
            <a:r>
              <a:t>and a working handoff between them. 270 tests passing.</a:t>
            </a:r>
          </a:p>
          <a:p/>
          <a:p>
            <a:r>
              <a:t>Found: we ran a calibration sweep on the iterative boundary protocol — the one</a:t>
            </a:r>
          </a:p>
          <a:p>
            <a:r>
              <a:t>where the two blocks pass information back and forth. It looked like a success</a:t>
            </a:r>
          </a:p>
          <a:p>
            <a:r>
              <a:t>at first: the credible intervals tightened by more than half. Then we checked</a:t>
            </a:r>
          </a:p>
          <a:p>
            <a:r>
              <a:t>coverage. At a nominal 95% interval it covers the truth on somewhere between 35</a:t>
            </a:r>
          </a:p>
          <a:p>
            <a:r>
              <a:t>and 70 per cent of seeds, depending on the parameter. It costs four times the</a:t>
            </a:r>
          </a:p>
          <a:p>
            <a:r>
              <a:t>compute, and not one of the twenty seeds converged.</a:t>
            </a:r>
          </a:p>
          <a:p/>
          <a:p>
            <a:r>
              <a:t>So the tightening wasn't a win — the tightening *was* the failure. It's a</a:t>
            </a:r>
          </a:p>
          <a:p>
            <a:r>
              <a:t>textbook over-propagation of confidence: each iteration treats the other</a:t>
            </a:r>
          </a:p>
          <a:p>
            <a:r>
              <a:t>block's density as a hard prior and cuts the tails a bit more.</a:t>
            </a:r>
          </a:p>
          <a:p/>
          <a:p>
            <a:r>
              <a:t>The single-pass protocol is honestly calibrated and is now the default. We've</a:t>
            </a:r>
          </a:p>
          <a:p>
            <a:r>
              <a:t>documented the negative result rather than shipping the tighter number.</a:t>
            </a:r>
          </a:p>
          <a:p/>
          <a:p>
            <a:r>
              <a:t>Which means: v0.0.1 is a modular inference prototype on synthetic data. A</a:t>
            </a:r>
          </a:p>
          <a:p>
            <a:r>
              <a:t>methods contribution. Not yet a biological one, and I don't want to claim</a:t>
            </a:r>
          </a:p>
          <a:p>
            <a:r>
              <a:t>otherwise.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[1:05]</a:t>
            </a:r>
          </a:p>
          <a:p>
            <a:r>
              <a:t>The north star. The concrete target is to put calibrated error bars on a</a:t>
            </a:r>
          </a:p>
          <a:p>
            <a:r>
              <a:t>well-mixed reduction of the Luthey-Schulten minimal cell — their metabolism,</a:t>
            </a:r>
          </a:p>
          <a:p>
            <a:r>
              <a:t>gene expression and tRNA charging, without the spatial lattice and the</a:t>
            </a:r>
          </a:p>
          <a:p>
            <a:r>
              <a:t>chromosome dynamics.</a:t>
            </a:r>
          </a:p>
          <a:p/>
          <a:p>
            <a:r>
              <a:t>Why theirs and not a model of our own? Two reasons. Their simulator runs</a:t>
            </a:r>
          </a:p>
          <a:p>
            <a:r>
              <a:t>forward from about a thousand literature parameters, so it hands us a</a:t>
            </a:r>
          </a:p>
          <a:p>
            <a:r>
              <a:t>ground-truth generator: those parameters are a known injection, and we can ask</a:t>
            </a:r>
          </a:p>
          <a:p>
            <a:r>
              <a:t>whether we recover them. And it hands us a baseline — "we put error bars on the</a:t>
            </a:r>
          </a:p>
          <a:p>
            <a:r>
              <a:t>Luthey-Schulten minimal cell" is a one-line contribution that the field can</a:t>
            </a:r>
          </a:p>
          <a:p>
            <a:r>
              <a:t>immediately place. Complementary to what they've built, not competing with it.</a:t>
            </a:r>
          </a:p>
          <a:p/>
          <a:p>
            <a:r>
              <a:t>The sequencing matters. Every release through v0.0.x stays a methods</a:t>
            </a:r>
          </a:p>
          <a:p>
            <a:r>
              <a:t>contribution on a deliberately minimal cell. It earns the word "instrument"</a:t>
            </a:r>
          </a:p>
          <a:p>
            <a:r>
              <a:t>at v0.1, when it conditions on real data. I'd rather under-claim on the way</a:t>
            </a:r>
          </a:p>
          <a:p>
            <a:r>
              <a:t>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[0:55]</a:t>
            </a:r>
          </a:p>
          <a:p>
            <a:r>
              <a:t>So — four questions, and then I'll stop.</a:t>
            </a:r>
          </a:p>
          <a:p/>
          <a:p>
            <a:r>
              <a:t>One. Is this the right north star? We've picked the Luthey-Schulten minimal</a:t>
            </a:r>
          </a:p>
          <a:p>
            <a:r>
              <a:t>cell because it hands us ground truth and a baseline. If there's a system where</a:t>
            </a:r>
          </a:p>
          <a:p>
            <a:r>
              <a:t>calibrated uncertainty would matter more to the field, I'd rather hear it now</a:t>
            </a:r>
          </a:p>
          <a:p>
            <a:r>
              <a:t>than in two years.</a:t>
            </a:r>
          </a:p>
          <a:p/>
          <a:p>
            <a:r>
              <a:t>Two. How long should we stay on synthetic data? Synthetic twins test the</a:t>
            </a:r>
          </a:p>
          <a:p>
            <a:r>
              <a:t>machinery honestly but they can't tell us the model is biologically wrong. If</a:t>
            </a:r>
          </a:p>
          <a:p>
            <a:r>
              <a:t>you think we should be on real data sooner, I'd like to know which datasets you'd</a:t>
            </a:r>
          </a:p>
          <a:p>
            <a:r>
              <a:t>reach for.</a:t>
            </a:r>
          </a:p>
          <a:p/>
          <a:p>
            <a:r>
              <a:t>Three. Who should we design for? An experimentalist deciding what to measure</a:t>
            </a:r>
          </a:p>
          <a:p>
            <a:r>
              <a:t>next wants very different ergonomics from a modeller composing sub-models, or a</a:t>
            </a:r>
          </a:p>
          <a:p>
            <a:r>
              <a:t>methods researcher testing a new sampler. We can't optimise for all three.</a:t>
            </a:r>
          </a:p>
          <a:p/>
          <a:p>
            <a:r>
              <a:t>Four. Is the Luthey-Schulten lab the collaboration to pursue, or is there a</a:t>
            </a:r>
          </a:p>
          <a:p>
            <a:r>
              <a:t>better way into this community?</a:t>
            </a:r>
          </a:p>
          <a:p/>
          <a:p>
            <a:r>
              <a:t>Thank you — I'd welcome your thoughts.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Use this if someone asks how the approach differs from current</a:t>
            </a:r>
          </a:p>
          <a:p>
            <a:r>
              <a:t>practice, or if the distinction didn't land the first time.</a:t>
            </a:r>
          </a:p>
          <a:p/>
          <a:p>
            <a:r>
              <a:t>Side by side. On the left, what's done now — three isolated fits, three point</a:t>
            </a:r>
          </a:p>
          <a:p>
            <a:r>
              <a:t>estimates, assembled, run forward, one prediction with no error bars.</a:t>
            </a:r>
          </a:p>
          <a:p/>
          <a:p>
            <a:r>
              <a:t>On the right, InferCell. All the data enters one coupled model. The modules</a:t>
            </a:r>
          </a:p>
          <a:p>
            <a:r>
              <a:t>talk to each other during inference, not just during simulation. What comes out</a:t>
            </a:r>
          </a:p>
          <a:p>
            <a:r>
              <a:t>is a joint posterior over all the parameters, and predictions with credible</a:t>
            </a:r>
          </a:p>
          <a:p>
            <a:r>
              <a:t>intervals.</a:t>
            </a:r>
          </a:p>
          <a:p/>
          <a:p>
            <a:r>
              <a:t>The important difference is the red arrows in the middle of the right panel.</a:t>
            </a:r>
          </a:p>
          <a:p>
            <a:r>
              <a:t>Because the modules are coupled while we infer, the data about metabolism</a:t>
            </a:r>
          </a:p>
          <a:p>
            <a:r>
              <a:t>constrains the gene-expression parameters, and vice versa. That's the</a:t>
            </a:r>
          </a:p>
          <a:p>
            <a:r>
              <a:t>information flow the isolated-fit picture throws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[0:20]</a:t>
            </a:r>
          </a:p>
          <a:p>
            <a:r>
              <a:t>Thanks. I'm Tom, a research fellow at Melbourne.</a:t>
            </a:r>
          </a:p>
          <a:p/>
          <a:p>
            <a:r>
              <a:t>I want to put one architectural argument to you: whole-cell models today can</a:t>
            </a:r>
          </a:p>
          <a:p>
            <a:r>
              <a:t>only be run forward, and that limits what we can learn from them. InferCell is</a:t>
            </a:r>
          </a:p>
          <a:p>
            <a:r>
              <a:t>an attempt to build one that can be run backwards — conditioned on data.</a:t>
            </a:r>
          </a:p>
          <a:p/>
          <a:p>
            <a:r>
              <a:t>Three parts: the problem, what we've built, and then four questions I'd</a:t>
            </a:r>
          </a:p>
          <a:p>
            <a:r>
              <a:t>genuinely like your advice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past here is for questions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notesSlide" Target="../notesSlides/notesSlide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77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28216" y="4395264"/>
            <a:ext cx="6821081" cy="151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319"/>
              </a:lnSpc>
            </a:pPr>
            <a:r>
              <a:rPr lang="en-US" sz="8799" spc="-149">
                <a:solidFill>
                  <a:srgbClr val="FFFFFF"/>
                </a:solidFill>
                <a:latin typeface="National Bold"/>
              </a:rPr>
              <a:t>InferCell</a:t>
            </a:r>
          </a:p>
        </p:txBody>
      </p:sp>
      <p:sp>
        <p:nvSpPr>
          <p:cNvPr id="6" name="Freeform 6"/>
          <p:cNvSpPr/>
          <p:nvPr/>
        </p:nvSpPr>
        <p:spPr>
          <a:xfrm>
            <a:off x="-3383877" y="-4351859"/>
            <a:ext cx="9022634" cy="925830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7659121">
            <a:off x="15091031" y="5585714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461811" y="902891"/>
            <a:ext cx="6797489" cy="1709445"/>
          </a:xfrm>
          <a:custGeom>
            <a:avLst/>
            <a:gdLst/>
            <a:ahLst/>
            <a:cxnLst/>
            <a:rect l="l" t="t" r="r" b="b"/>
            <a:pathLst>
              <a:path w="6797489" h="1709445">
                <a:moveTo>
                  <a:pt x="0" y="0"/>
                </a:moveTo>
                <a:lnTo>
                  <a:pt x="6797489" y="0"/>
                </a:lnTo>
                <a:lnTo>
                  <a:pt x="6797489" y="1709444"/>
                </a:lnTo>
                <a:lnTo>
                  <a:pt x="0" y="1709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228216" y="6173676"/>
            <a:ext cx="6915784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79"/>
              </a:lnSpc>
            </a:pPr>
            <a:r>
              <a:rPr lang="en-US" sz="3600" err="1">
                <a:solidFill>
                  <a:srgbClr val="D9D9D9"/>
                </a:solidFill>
                <a:latin typeface="Newzald Light"/>
              </a:rPr>
              <a:t>Inference-first whole-cell modelling</a:t>
            </a:r>
            <a:endParaRPr lang="en-US" sz="3600">
              <a:solidFill>
                <a:srgbClr val="D9D9D9"/>
              </a:solidFill>
              <a:latin typeface="Newzald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28216" y="7505968"/>
            <a:ext cx="6915784" cy="534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79"/>
              </a:lnSpc>
            </a:pPr>
            <a:r>
              <a:rPr lang="en-US" sz="2799">
                <a:solidFill>
                  <a:srgbClr val="D9D9D9"/>
                </a:solidFill>
                <a:latin typeface="Newzald Light"/>
              </a:rPr>
              <a:t>Tom Kimpson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28216" y="8028822"/>
            <a:ext cx="6915784" cy="534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79"/>
              </a:lnSpc>
            </a:pPr>
            <a:r>
              <a:rPr lang="en-US" sz="2799">
                <a:solidFill>
                  <a:srgbClr val="D9D9D9"/>
                </a:solidFill>
                <a:latin typeface="Newzald Light"/>
              </a:rPr>
              <a:t>University of Melbourne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28216" y="8553333"/>
            <a:ext cx="13904585" cy="1117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79"/>
              </a:lnSpc>
            </a:pPr>
            <a:r>
              <a:rPr lang="en-US" sz="2799">
                <a:solidFill>
                  <a:srgbClr val="D9D9D9"/>
                </a:solidFill>
                <a:latin typeface="Newzald Light"/>
              </a:rPr>
              <a:t>International Scientific Advisory Board  ·  12 August 2026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228244" y="7155636"/>
            <a:ext cx="13205353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77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1028700" y="601417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2312988" y="5675340"/>
            <a:ext cx="9005307" cy="6565688"/>
          </a:xfrm>
          <a:custGeom>
            <a:avLst/>
            <a:gdLst/>
            <a:ahLst/>
            <a:cxnLst/>
            <a:rect l="l" t="t" r="r" b="b"/>
            <a:pathLst>
              <a:path w="9005307" h="6565688">
                <a:moveTo>
                  <a:pt x="0" y="0"/>
                </a:moveTo>
                <a:lnTo>
                  <a:pt x="9005308" y="0"/>
                </a:lnTo>
                <a:lnTo>
                  <a:pt x="9005308" y="6565688"/>
                </a:lnTo>
                <a:lnTo>
                  <a:pt x="0" y="6565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5400000">
            <a:off x="-1974906" y="1974906"/>
            <a:ext cx="4238545" cy="288733"/>
            <a:chOff x="0" y="0"/>
            <a:chExt cx="1116325" cy="760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16324" cy="76045"/>
            </a:xfrm>
            <a:custGeom>
              <a:avLst/>
              <a:gdLst/>
              <a:ahLst/>
              <a:cxnLst/>
              <a:rect l="l" t="t" r="r" b="b"/>
              <a:pathLst>
                <a:path w="1116324" h="76045">
                  <a:moveTo>
                    <a:pt x="0" y="0"/>
                  </a:moveTo>
                  <a:lnTo>
                    <a:pt x="1116324" y="0"/>
                  </a:lnTo>
                  <a:lnTo>
                    <a:pt x="1116324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16325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12082" y="1593374"/>
            <a:ext cx="362702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>
                <a:solidFill>
                  <a:srgbClr val="FFFFFF"/>
                </a:solidFill>
                <a:latin typeface="National Bold"/>
              </a:rPr>
              <a:t>Backup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2082" y="2796460"/>
            <a:ext cx="4643986" cy="158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1999">
                <a:solidFill>
                  <a:srgbClr val="D9D9D9"/>
                </a:solidFill>
                <a:latin typeface="Newzald Light"/>
              </a:rPr>
              <a:t>Detail for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Whole-cell models are forward simulators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State of the art: the Luthey-Schulten lab's 4D minimal cell — 493 genes, four coupled solvers, 10 nm voxels, a full cell cycle on GPU (Thornburg et al., Cell 2026).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62020" y="9620000"/>
            <a:ext cx="109728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0" b="0">
                <a:solidFill>
                  <a:srgbClr val="545454"/>
                </a:solidFill>
                <a:latin typeface="Newzald Ligh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2514600"/>
            <a:ext cx="7589520" cy="1828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A remarkable feat of science and engineering.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Four solvers — RDME, CME, ODE metabolism, Brownian dynamics.</a:t>
            </a:r>
          </a:p>
          <a:p>
            <a:pPr algn="l" marL="219456" indent="-219456">
              <a:lnSpc>
                <a:spcPct val="118000"/>
              </a:lnSpc>
              <a:spcBef>
                <a:spcPts val="800"/>
              </a:spcBef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It answers: can we simulate a complete minimal cell cycle?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It cannot answer: how much should we believe any of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8740" y="4663440"/>
            <a:ext cx="2148840" cy="868680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Parameters  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7660" y="4663440"/>
            <a:ext cx="2148840" cy="86868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Whole-cell model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34156" y="5102352"/>
            <a:ext cx="548640" cy="0"/>
          </a:xfrm>
          <a:prstGeom prst="line">
            <a:avLst/>
          </a:prstGeom>
          <a:ln w="25400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26580" y="4663440"/>
            <a:ext cx="2148840" cy="868680"/>
          </a:xfrm>
          <a:prstGeom prst="roundRect">
            <a:avLst>
              <a:gd name="adj" fmla="val 10000"/>
            </a:avLst>
          </a:prstGeom>
          <a:solidFill>
            <a:srgbClr val="F7DEDA"/>
          </a:solidFill>
          <a:ln w="2222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Predictions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3076" y="5102352"/>
            <a:ext cx="548640" cy="0"/>
          </a:xfrm>
          <a:prstGeom prst="line">
            <a:avLst/>
          </a:prstGeom>
          <a:ln w="25400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8700" y="5806440"/>
            <a:ext cx="758952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≈1000 parameters, each entered as a single number from the literature.</a:t>
            </a:r>
          </a:p>
        </p:txBody>
      </p:sp>
      <p:pic>
        <p:nvPicPr>
          <p:cNvPr id="15" name="Picture 14" descr="ribosome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6199" y="2331720"/>
            <a:ext cx="5665202" cy="5486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18320" y="7955280"/>
            <a:ext cx="76809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250" i="1" b="0">
                <a:solidFill>
                  <a:srgbClr val="545454"/>
                </a:solidFill>
                <a:latin typeface="Newzald Light"/>
              </a:rPr>
              <a:t>Thornburg et al., Cell 2026, Fig.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8915400"/>
            <a:ext cx="162306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2000" i="0" b="0">
                <a:solidFill>
                  <a:srgbClr val="237794"/>
                </a:solidFill>
                <a:latin typeface="Newzald Bold"/>
              </a:rPr>
              <a:t>Impressive science. But there is no uncertainty anywhere in this picture.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But the parameters themselves are uncertain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Rate constants come from the literature — often a different organism, often an adjacent measurement.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62020" y="9620000"/>
            <a:ext cx="109728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0" b="0">
                <a:solidFill>
                  <a:srgbClr val="545454"/>
                </a:solidFill>
                <a:latin typeface="Newzald Ligh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2468880"/>
            <a:ext cx="694944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What we pretend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03020" y="3337560"/>
            <a:ext cx="5303520" cy="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71900" y="3218688"/>
            <a:ext cx="118872" cy="237744"/>
          </a:xfrm>
          <a:prstGeom prst="roundRect">
            <a:avLst>
              <a:gd name="adj" fmla="val 50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8940" y="3520440"/>
            <a:ext cx="201168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B03A2E"/>
                </a:solidFill>
                <a:latin typeface="Newzald Light"/>
              </a:rPr>
              <a:t>k_tx = 0.05 s⁻¹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4206240"/>
            <a:ext cx="694944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What we actually know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14500" y="7178040"/>
            <a:ext cx="4937760" cy="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714500" y="4892040"/>
            <a:ext cx="0" cy="228600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29300" y="7214616"/>
            <a:ext cx="9144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1" b="0">
                <a:solidFill>
                  <a:srgbClr val="545454"/>
                </a:solidFill>
                <a:latin typeface="Newzald Light"/>
              </a:rPr>
              <a:t>k_tx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9364" y="4873752"/>
            <a:ext cx="12801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1" b="0">
                <a:solidFill>
                  <a:srgbClr val="545454"/>
                </a:solidFill>
                <a:latin typeface="Newzald Light"/>
              </a:rPr>
              <a:t>p(k_tx)</a:t>
            </a:r>
          </a:p>
        </p:txBody>
      </p:sp>
      <p:sp>
        <p:nvSpPr>
          <p:cNvPr id="17" name="Freeform 16"/>
          <p:cNvSpPr/>
          <p:nvPr/>
        </p:nvSpPr>
        <p:spPr>
          <a:xfrm>
            <a:off x="1714500" y="5074920"/>
            <a:ext cx="4937760" cy="2103120"/>
          </a:xfrm>
          <a:custGeom>
            <a:avLst/>
            <a:gdLst/>
            <a:ahLst/>
            <a:cxnLst/>
            <a:rect l="l" t="t" r="r" b="b"/>
            <a:pathLst>
              <a:path w="4937760" h="2103120">
                <a:moveTo>
                  <a:pt x="0" y="2075295"/>
                </a:moveTo>
                <a:lnTo>
                  <a:pt x="102870" y="2063519"/>
                </a:lnTo>
                <a:lnTo>
                  <a:pt x="205740" y="2047599"/>
                </a:lnTo>
                <a:lnTo>
                  <a:pt x="308610" y="2026439"/>
                </a:lnTo>
                <a:lnTo>
                  <a:pt x="411480" y="1998793"/>
                </a:lnTo>
                <a:lnTo>
                  <a:pt x="514350" y="1963296"/>
                </a:lnTo>
                <a:lnTo>
                  <a:pt x="617220" y="1918514"/>
                </a:lnTo>
                <a:lnTo>
                  <a:pt x="720090" y="1863024"/>
                </a:lnTo>
                <a:lnTo>
                  <a:pt x="822960" y="1795507"/>
                </a:lnTo>
                <a:lnTo>
                  <a:pt x="925830" y="1714880"/>
                </a:lnTo>
                <a:lnTo>
                  <a:pt x="1028700" y="1620423"/>
                </a:lnTo>
                <a:lnTo>
                  <a:pt x="1131570" y="1511931"/>
                </a:lnTo>
                <a:lnTo>
                  <a:pt x="1234440" y="1389848"/>
                </a:lnTo>
                <a:lnTo>
                  <a:pt x="1337310" y="1255381"/>
                </a:lnTo>
                <a:lnTo>
                  <a:pt x="1440180" y="1110583"/>
                </a:lnTo>
                <a:lnTo>
                  <a:pt x="1543050" y="958374"/>
                </a:lnTo>
                <a:lnTo>
                  <a:pt x="1645920" y="802504"/>
                </a:lnTo>
                <a:lnTo>
                  <a:pt x="1748790" y="647437"/>
                </a:lnTo>
                <a:lnTo>
                  <a:pt x="1851660" y="498168"/>
                </a:lnTo>
                <a:lnTo>
                  <a:pt x="1954530" y="359970"/>
                </a:lnTo>
                <a:lnTo>
                  <a:pt x="2057400" y="238092"/>
                </a:lnTo>
                <a:lnTo>
                  <a:pt x="2160270" y="137436"/>
                </a:lnTo>
                <a:lnTo>
                  <a:pt x="2263140" y="62231"/>
                </a:lnTo>
                <a:lnTo>
                  <a:pt x="2366010" y="15733"/>
                </a:lnTo>
                <a:lnTo>
                  <a:pt x="2468880" y="0"/>
                </a:lnTo>
                <a:lnTo>
                  <a:pt x="2571750" y="15733"/>
                </a:lnTo>
                <a:lnTo>
                  <a:pt x="2674620" y="62231"/>
                </a:lnTo>
                <a:lnTo>
                  <a:pt x="2777490" y="137436"/>
                </a:lnTo>
                <a:lnTo>
                  <a:pt x="2880360" y="238092"/>
                </a:lnTo>
                <a:lnTo>
                  <a:pt x="2983230" y="359970"/>
                </a:lnTo>
                <a:lnTo>
                  <a:pt x="3086100" y="498168"/>
                </a:lnTo>
                <a:lnTo>
                  <a:pt x="3188970" y="647437"/>
                </a:lnTo>
                <a:lnTo>
                  <a:pt x="3291840" y="802504"/>
                </a:lnTo>
                <a:lnTo>
                  <a:pt x="3394710" y="958374"/>
                </a:lnTo>
                <a:lnTo>
                  <a:pt x="3497580" y="1110583"/>
                </a:lnTo>
                <a:lnTo>
                  <a:pt x="3600450" y="1255381"/>
                </a:lnTo>
                <a:lnTo>
                  <a:pt x="3703320" y="1389848"/>
                </a:lnTo>
                <a:lnTo>
                  <a:pt x="3806190" y="1511931"/>
                </a:lnTo>
                <a:lnTo>
                  <a:pt x="3909060" y="1620423"/>
                </a:lnTo>
                <a:lnTo>
                  <a:pt x="4011930" y="1714880"/>
                </a:lnTo>
                <a:lnTo>
                  <a:pt x="4114800" y="1795507"/>
                </a:lnTo>
                <a:lnTo>
                  <a:pt x="4217670" y="1863024"/>
                </a:lnTo>
                <a:lnTo>
                  <a:pt x="4320540" y="1918514"/>
                </a:lnTo>
                <a:lnTo>
                  <a:pt x="4423410" y="1963296"/>
                </a:lnTo>
                <a:lnTo>
                  <a:pt x="4526280" y="1998793"/>
                </a:lnTo>
                <a:lnTo>
                  <a:pt x="4629150" y="2026439"/>
                </a:lnTo>
                <a:lnTo>
                  <a:pt x="4732020" y="2047599"/>
                </a:lnTo>
                <a:lnTo>
                  <a:pt x="4834890" y="2063519"/>
                </a:lnTo>
                <a:lnTo>
                  <a:pt x="4937760" y="2075295"/>
                </a:lnTo>
                <a:lnTo>
                  <a:pt x="493776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FAE7D2"/>
          </a:solidFill>
          <a:ln w="22225">
            <a:solidFill>
              <a:srgbClr val="C1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183380" y="5212080"/>
            <a:ext cx="0" cy="1965960"/>
          </a:xfrm>
          <a:prstGeom prst="line">
            <a:avLst/>
          </a:prstGeom>
          <a:ln w="22225">
            <a:solidFill>
              <a:srgbClr val="B03A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82135" y="4873752"/>
            <a:ext cx="21945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1" b="0">
                <a:solidFill>
                  <a:srgbClr val="B03A2E"/>
                </a:solidFill>
                <a:latin typeface="Newzald Light"/>
              </a:rPr>
              <a:t>the number we use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07031" y="7589520"/>
            <a:ext cx="3752698" cy="0"/>
          </a:xfrm>
          <a:prstGeom prst="line">
            <a:avLst/>
          </a:prstGeom>
          <a:ln w="22225">
            <a:solidFill>
              <a:srgbClr val="C1741A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714500" y="7744968"/>
            <a:ext cx="493776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C1741A"/>
                </a:solidFill>
                <a:latin typeface="Newzald Light"/>
              </a:rPr>
              <a:t>plausible range: 0.02 – 0.12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514600"/>
            <a:ext cx="3840480" cy="1371600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k_tx = 0.05 s⁻¹</a:t>
            </a:r>
          </a:p>
          <a:p>
            <a:pPr algn="ctr" marL="0" indent="0">
              <a:buNone/>
            </a:pPr>
            <a:r>
              <a:rPr sz="1250" i="1" b="0">
                <a:solidFill>
                  <a:srgbClr val="101010"/>
                </a:solidFill>
                <a:latin typeface="Newzald Light"/>
              </a:rPr>
              <a:t>measured in E. coli,</a:t>
            </a:r>
          </a:p>
          <a:p>
            <a:pPr algn="ctr" marL="0" indent="0">
              <a:buNone/>
            </a:pPr>
            <a:r>
              <a:rPr sz="1250" i="1" b="0">
                <a:solidFill>
                  <a:srgbClr val="101010"/>
                </a:solidFill>
                <a:latin typeface="Newzald Light"/>
              </a:rPr>
              <a:t>applied to syn3A</a:t>
            </a:r>
          </a:p>
          <a:p>
            <a:pPr algn="ctr" marL="0" indent="0">
              <a:buNone/>
            </a:pPr>
            <a:r>
              <a:rPr sz="1250" i="1" b="0">
                <a:solidFill>
                  <a:srgbClr val="101010"/>
                </a:solidFill>
                <a:latin typeface="Newzald Light"/>
              </a:rPr>
              <a:t>range: 0.02 – 0.12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67360" y="2514600"/>
            <a:ext cx="3840480" cy="1371600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γ = 0.002 s⁻¹</a:t>
            </a:r>
          </a:p>
          <a:p>
            <a:pPr algn="ctr" marL="0" indent="0">
              <a:buNone/>
            </a:pPr>
            <a:r>
              <a:rPr sz="1250" i="1" b="0">
                <a:solidFill>
                  <a:srgbClr val="101010"/>
                </a:solidFill>
                <a:latin typeface="Newzald Light"/>
              </a:rPr>
              <a:t>extrapolated from</a:t>
            </a:r>
          </a:p>
          <a:p>
            <a:pPr algn="ctr" marL="0" indent="0">
              <a:buNone/>
            </a:pPr>
            <a:r>
              <a:rPr sz="1250" i="1" b="0">
                <a:solidFill>
                  <a:srgbClr val="101010"/>
                </a:solidFill>
                <a:latin typeface="Newzald Light"/>
              </a:rPr>
              <a:t>M. pneumoniae</a:t>
            </a:r>
          </a:p>
          <a:p>
            <a:pPr algn="ctr" marL="0" indent="0">
              <a:buNone/>
            </a:pPr>
            <a:r>
              <a:rPr sz="1250" i="1" b="0">
                <a:solidFill>
                  <a:srgbClr val="101010"/>
                </a:solidFill>
                <a:latin typeface="Newzald Light"/>
              </a:rPr>
              <a:t>range: 0.001 – 0.004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4892040"/>
            <a:ext cx="5212080" cy="1188720"/>
          </a:xfrm>
          <a:prstGeom prst="roundRect">
            <a:avLst>
              <a:gd name="adj" fmla="val 10000"/>
            </a:avLst>
          </a:prstGeom>
          <a:solidFill>
            <a:srgbClr val="FAE7D2"/>
          </a:solidFill>
          <a:ln w="22225">
            <a:solidFill>
              <a:srgbClr val="C1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[mRNA]ₛₛ  =  k_tx / γ</a:t>
            </a:r>
          </a:p>
          <a:p>
            <a:pPr algn="ctr" marL="0" indent="0">
              <a:buNone/>
            </a:pPr>
            <a:r>
              <a:rPr sz="1250" i="1" b="0">
                <a:solidFill>
                  <a:srgbClr val="101010"/>
                </a:solidFill>
                <a:latin typeface="Newzald Light"/>
              </a:rPr>
              <a:t>range: 5 – 120 copies   (nominal: 25)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0" y="6858000"/>
            <a:ext cx="5212080" cy="1188720"/>
          </a:xfrm>
          <a:prstGeom prst="roundRect">
            <a:avLst>
              <a:gd name="adj" fmla="val 10000"/>
            </a:avLst>
          </a:prstGeom>
          <a:solidFill>
            <a:srgbClr val="F7DEDA"/>
          </a:solidFill>
          <a:ln w="2222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Protein  →  flux  →  growth rate</a:t>
            </a:r>
          </a:p>
          <a:p>
            <a:pPr algn="ctr" marL="0" indent="0">
              <a:buNone/>
            </a:pPr>
            <a:r>
              <a:rPr sz="1250" i="1" b="0">
                <a:solidFill>
                  <a:srgbClr val="101010"/>
                </a:solidFill>
                <a:latin typeface="Newzald Light"/>
              </a:rPr>
              <a:t>a 24-fold range, from two parameters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81360" y="3886200"/>
            <a:ext cx="1371600" cy="1005840"/>
          </a:xfrm>
          <a:prstGeom prst="line">
            <a:avLst/>
          </a:prstGeom>
          <a:ln w="25400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3716000" y="3886200"/>
            <a:ext cx="1371600" cy="1005840"/>
          </a:xfrm>
          <a:prstGeom prst="line">
            <a:avLst/>
          </a:prstGeom>
          <a:ln w="25400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938760" y="6080760"/>
            <a:ext cx="0" cy="777240"/>
          </a:xfrm>
          <a:prstGeom prst="line">
            <a:avLst/>
          </a:prstGeom>
          <a:ln w="25400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28700" y="8915400"/>
            <a:ext cx="162306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2000" i="0" b="0">
                <a:solidFill>
                  <a:srgbClr val="237794"/>
                </a:solidFill>
                <a:latin typeface="Newzald Bold"/>
              </a:rPr>
              <a:t>Two parameters and one equation give a 24-fold range. A whole-cell model has ~1000 parameters feeding coupled nonlinear dynamics.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And the architecture has nowhere to put 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Subsystems are calibrated in isolation, then assembled from point estimates.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62020" y="9620000"/>
            <a:ext cx="109728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0" b="0">
                <a:solidFill>
                  <a:srgbClr val="545454"/>
                </a:solidFill>
                <a:latin typeface="Newzald Light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2468880"/>
            <a:ext cx="3474720" cy="1051560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Fit subsystem A</a:t>
            </a:r>
          </a:p>
          <a:p>
            <a:pPr algn="ctr" marL="0" indent="0">
              <a:buNone/>
            </a:pPr>
            <a:r>
              <a:rPr sz="1250" i="1" b="0">
                <a:solidFill>
                  <a:srgbClr val="101010"/>
                </a:solidFill>
                <a:latin typeface="Newzald Light"/>
              </a:rPr>
              <a:t>isolated experiment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2519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θ̂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06240" y="3520440"/>
            <a:ext cx="0" cy="731520"/>
          </a:xfrm>
          <a:prstGeom prst="line">
            <a:avLst/>
          </a:prstGeom>
          <a:ln w="25400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2468880"/>
            <a:ext cx="3474720" cy="1051560"/>
          </a:xfrm>
          <a:prstGeom prst="roundRect">
            <a:avLst>
              <a:gd name="adj" fmla="val 10000"/>
            </a:avLst>
          </a:prstGeom>
          <a:solidFill>
            <a:srgbClr val="FAE7D2"/>
          </a:solidFill>
          <a:ln w="22225">
            <a:solidFill>
              <a:srgbClr val="C1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Fit subsystem B</a:t>
            </a:r>
          </a:p>
          <a:p>
            <a:pPr algn="ctr" marL="0" indent="0">
              <a:buNone/>
            </a:pPr>
            <a:r>
              <a:rPr sz="1250" i="1" b="0">
                <a:solidFill>
                  <a:srgbClr val="101010"/>
                </a:solidFill>
                <a:latin typeface="Newzald Light"/>
              </a:rPr>
              <a:t>different experiment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42519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θ̂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0" y="3520440"/>
            <a:ext cx="0" cy="731520"/>
          </a:xfrm>
          <a:prstGeom prst="line">
            <a:avLst/>
          </a:prstGeom>
          <a:ln w="25400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2344400" y="2468880"/>
            <a:ext cx="3474720" cy="1051560"/>
          </a:xfrm>
          <a:prstGeom prst="roundRect">
            <a:avLst>
              <a:gd name="adj" fmla="val 10000"/>
            </a:avLst>
          </a:prstGeom>
          <a:solidFill>
            <a:srgbClr val="E3F0DC"/>
          </a:solidFill>
          <a:ln w="22225">
            <a:solidFill>
              <a:srgbClr val="4A8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Fit subsystem C</a:t>
            </a:r>
          </a:p>
          <a:p>
            <a:pPr algn="ctr" marL="0" indent="0">
              <a:buNone/>
            </a:pPr>
            <a:r>
              <a:rPr sz="1250" i="1" b="0">
                <a:solidFill>
                  <a:srgbClr val="101010"/>
                </a:solidFill>
                <a:latin typeface="Newzald Light"/>
              </a:rPr>
              <a:t>literature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304520" y="42519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θ̂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081760" y="3520440"/>
            <a:ext cx="0" cy="731520"/>
          </a:xfrm>
          <a:prstGeom prst="line">
            <a:avLst/>
          </a:prstGeom>
          <a:ln w="25400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43400" y="3675888"/>
            <a:ext cx="21945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250" i="1" b="0">
                <a:solidFill>
                  <a:srgbClr val="545454"/>
                </a:solidFill>
                <a:latin typeface="Newzald Light"/>
              </a:rPr>
              <a:t>point estimate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5852160"/>
            <a:ext cx="7680960" cy="100584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Whole-cell model   (forward simulation)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06240" y="4983480"/>
            <a:ext cx="2863901" cy="868680"/>
          </a:xfrm>
          <a:prstGeom prst="line">
            <a:avLst/>
          </a:prstGeom>
          <a:ln w="25400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44000" y="4983480"/>
            <a:ext cx="0" cy="868680"/>
          </a:xfrm>
          <a:prstGeom prst="line">
            <a:avLst/>
          </a:prstGeom>
          <a:ln w="25400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1217859" y="4983480"/>
            <a:ext cx="2863901" cy="868680"/>
          </a:xfrm>
          <a:prstGeom prst="line">
            <a:avLst/>
          </a:prstGeom>
          <a:ln w="25400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303520" y="763524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F7DEDA"/>
          </a:solidFill>
          <a:ln w="2222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Prediction   (no uncertainty)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0" y="6858000"/>
            <a:ext cx="0" cy="777240"/>
          </a:xfrm>
          <a:prstGeom prst="line">
            <a:avLst/>
          </a:prstGeom>
          <a:ln w="25400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590020" y="5989320"/>
            <a:ext cx="5669280" cy="23774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Uncertainty is discarded at every step.</a:t>
            </a:r>
          </a:p>
          <a:p>
            <a:pPr algn="l" marL="219456" indent="-219456">
              <a:lnSpc>
                <a:spcPct val="118000"/>
              </a:lnSpc>
              <a:spcBef>
                <a:spcPts val="8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Coupling is invisible during fitting — parameters that are jointly plausible in the coupled model may never be found.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" y="8915400"/>
            <a:ext cx="162306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2000" i="0" b="0">
                <a:solidFill>
                  <a:srgbClr val="237794"/>
                </a:solidFill>
                <a:latin typeface="Newzald Bold"/>
              </a:rPr>
              <a:t>There is no place in the architecture to store or propagate a probability.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Inverting the question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62020" y="9620000"/>
            <a:ext cx="109728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0" b="0">
                <a:solidFill>
                  <a:srgbClr val="545454"/>
                </a:solidFill>
                <a:latin typeface="Newzald Light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4460" y="2286000"/>
            <a:ext cx="731520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Forward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8340" y="2286000"/>
            <a:ext cx="731520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63340" y="3108960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Parameters  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63340" y="4453128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Model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52060" y="3886200"/>
            <a:ext cx="0" cy="566928"/>
          </a:xfrm>
          <a:prstGeom prst="line">
            <a:avLst/>
          </a:prstGeom>
          <a:ln w="25400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63340" y="5797296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F7DEDA"/>
          </a:solidFill>
          <a:ln w="2222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Predictions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52060" y="5230368"/>
            <a:ext cx="0" cy="566928"/>
          </a:xfrm>
          <a:prstGeom prst="line">
            <a:avLst/>
          </a:prstGeom>
          <a:ln w="25400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2047220" y="3108960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E3F0DC"/>
          </a:solidFill>
          <a:ln w="22225">
            <a:solidFill>
              <a:srgbClr val="4A8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Observed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47220" y="4453128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Model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235940" y="3886200"/>
            <a:ext cx="0" cy="566928"/>
          </a:xfrm>
          <a:prstGeom prst="line">
            <a:avLst/>
          </a:prstGeom>
          <a:ln w="25400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2047220" y="5797296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E7E0F1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p(θ | data)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235940" y="5230368"/>
            <a:ext cx="0" cy="566928"/>
          </a:xfrm>
          <a:prstGeom prst="line">
            <a:avLst/>
          </a:prstGeom>
          <a:ln w="25400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94460" y="7223760"/>
            <a:ext cx="73152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2000" i="1" b="0">
                <a:solidFill>
                  <a:srgbClr val="545454"/>
                </a:solidFill>
                <a:latin typeface="Newzald Light"/>
              </a:rPr>
              <a:t>“Given θ, what does the cell do?”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8340" y="7223760"/>
            <a:ext cx="73152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2000" i="1" b="0">
                <a:solidFill>
                  <a:srgbClr val="545454"/>
                </a:solidFill>
                <a:latin typeface="Newzald Light"/>
              </a:rPr>
              <a:t>“Given data, which θ are consistent with it?”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0" y="2377440"/>
            <a:ext cx="0" cy="5303520"/>
          </a:xfrm>
          <a:prstGeom prst="line">
            <a:avLst/>
          </a:prstGeom>
          <a:ln w="1587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8700" y="8915400"/>
            <a:ext cx="162306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2000" i="0" b="0">
                <a:solidFill>
                  <a:srgbClr val="237794"/>
                </a:solidFill>
                <a:latin typeface="Newzald Bold"/>
              </a:rPr>
              <a:t>The model becomes something you condition on data, not just something you 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InferCell: design principles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A composable, inference-first whole-cell modelling framework in Julia.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62020" y="9620000"/>
            <a:ext cx="109728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0" b="0">
                <a:solidFill>
                  <a:srgbClr val="545454"/>
                </a:solidFill>
                <a:latin typeface="Newzald Ligh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2651760"/>
            <a:ext cx="7863840" cy="58521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Inference-first.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Uncertainty quantification and probabilistic prediction are built in, not bolted on.</a:t>
            </a:r>
          </a:p>
          <a:p>
            <a:pPr algn="l" marL="219456" indent="-219456">
              <a:lnSpc>
                <a:spcPct val="118000"/>
              </a:lnSpc>
              <a:spcBef>
                <a:spcPts val="1600"/>
              </a:spcBef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Modular.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Swap a module for a different formalism; the inference layer still works.</a:t>
            </a:r>
          </a:p>
          <a:p>
            <a:pPr algn="l" marL="219456" indent="-219456">
              <a:lnSpc>
                <a:spcPct val="118000"/>
              </a:lnSpc>
              <a:spcBef>
                <a:spcPts val="1600"/>
              </a:spcBef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Information flow as the design test.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At every module boundary, ask: how does inference cross this? If you can't answer, the design changes.</a:t>
            </a:r>
          </a:p>
          <a:p>
            <a:pPr algn="l" marL="219456" indent="-219456">
              <a:lnSpc>
                <a:spcPct val="118000"/>
              </a:lnSpc>
              <a:spcBef>
                <a:spcPts val="1600"/>
              </a:spcBef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One language, one computational graph.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Models, solvers and inference share a single compiled representation — so gradients compose end to 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65176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TX/TL  v1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990320" y="265176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E3F0DC"/>
          </a:solidFill>
          <a:ln w="22225">
            <a:solidFill>
              <a:srgbClr val="4A8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TX/TL  v2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435840" y="3017520"/>
            <a:ext cx="1463040" cy="0"/>
          </a:xfrm>
          <a:prstGeom prst="line">
            <a:avLst/>
          </a:prstGeom>
          <a:ln w="25400">
            <a:solidFill>
              <a:srgbClr val="B03A2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252960" y="2304288"/>
            <a:ext cx="18288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250" i="0" b="0">
                <a:solidFill>
                  <a:srgbClr val="B03A2E"/>
                </a:solidFill>
                <a:latin typeface="Newzald Light"/>
              </a:rPr>
              <a:t>swap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38560" y="388620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Inference layer</a:t>
            </a:r>
          </a:p>
          <a:p>
            <a:pPr algn="ctr" marL="0" indent="0">
              <a:buNone/>
            </a:pPr>
            <a:r>
              <a:rPr sz="1250" i="1" b="0">
                <a:solidFill>
                  <a:srgbClr val="101010"/>
                </a:solidFill>
                <a:latin typeface="Newzald Light"/>
              </a:rPr>
              <a:t>unchanged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530352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Module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990320" y="530352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FAE7D2"/>
          </a:solidFill>
          <a:ln w="22225">
            <a:solidFill>
              <a:srgbClr val="C1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Module 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435840" y="5669280"/>
            <a:ext cx="1463040" cy="0"/>
          </a:xfrm>
          <a:prstGeom prst="line">
            <a:avLst/>
          </a:prstGeom>
          <a:ln w="31750">
            <a:solidFill>
              <a:srgbClr val="B03A2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252960" y="4956048"/>
            <a:ext cx="18288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B03A2E"/>
                </a:solidFill>
                <a:latin typeface="Newzald Bold"/>
              </a:rPr>
              <a:t>p(θ)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0" y="6720840"/>
            <a:ext cx="4389120" cy="548640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Models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0" y="7379208"/>
            <a:ext cx="4389120" cy="548640"/>
          </a:xfrm>
          <a:prstGeom prst="roundRect">
            <a:avLst>
              <a:gd name="adj" fmla="val 10000"/>
            </a:avLst>
          </a:prstGeom>
          <a:solidFill>
            <a:srgbClr val="E3F0DC"/>
          </a:solidFill>
          <a:ln w="22225">
            <a:solidFill>
              <a:srgbClr val="4A8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Solvers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0" y="8037576"/>
            <a:ext cx="4389120" cy="548640"/>
          </a:xfrm>
          <a:prstGeom prst="roundRect">
            <a:avLst>
              <a:gd name="adj" fmla="val 10000"/>
            </a:avLst>
          </a:prstGeom>
          <a:solidFill>
            <a:srgbClr val="FAE7D2"/>
          </a:solidFill>
          <a:ln w="22225">
            <a:solidFill>
              <a:srgbClr val="C1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0" y="7223760"/>
            <a:ext cx="182880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250" i="0" b="0">
                <a:solidFill>
                  <a:srgbClr val="545454"/>
                </a:solidFill>
                <a:latin typeface="Newzald Bold"/>
              </a:rPr>
              <a:t>one Julia</a:t>
            </a:r>
          </a:p>
          <a:p>
            <a:pPr algn="l" marL="0" indent="0">
              <a:buNone/>
            </a:pPr>
            <a:r>
              <a:rPr sz="1250" i="0" b="0">
                <a:solidFill>
                  <a:srgbClr val="545454"/>
                </a:solidFill>
                <a:latin typeface="Newzald Bold"/>
              </a:rPr>
              <a:t>graph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453360" y="6858000"/>
            <a:ext cx="0" cy="169164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What becomes possible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Questions that forward simulation cannot 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62020" y="9620000"/>
            <a:ext cx="109728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0" b="0">
                <a:solidFill>
                  <a:srgbClr val="545454"/>
                </a:solidFill>
                <a:latin typeface="Newzald Ligh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2606040"/>
            <a:ext cx="7589520" cy="3108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Probabilistic prediction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“Is the doubling time 110 ± 5 min, or is it 60 – 200?”</a:t>
            </a:r>
          </a:p>
          <a:p>
            <a:pPr algn="l" marL="219456" indent="-219456">
              <a:lnSpc>
                <a:spcPct val="118000"/>
              </a:lnSpc>
              <a:spcBef>
                <a:spcPts val="1400"/>
              </a:spcBef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Parameter calibration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“What is k_tx for this gene, given our data?”</a:t>
            </a:r>
          </a:p>
          <a:p>
            <a:pPr algn="l" marL="219456" indent="-219456">
              <a:lnSpc>
                <a:spcPct val="118000"/>
              </a:lnSpc>
              <a:spcBef>
                <a:spcPts val="1400"/>
              </a:spcBef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Identifiability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“Does the data constrain k_tx alone, or only the ratio k_tx / γ?”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606040"/>
            <a:ext cx="7589520" cy="3108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Model selection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“Does the data prefer deterministic or bursty transcription?”</a:t>
            </a:r>
          </a:p>
          <a:p>
            <a:pPr algn="l" marL="219456" indent="-219456">
              <a:lnSpc>
                <a:spcPct val="118000"/>
              </a:lnSpc>
              <a:spcBef>
                <a:spcPts val="1400"/>
              </a:spcBef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Experimental design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“Which experiment most reduces uncertainty in γ_prot?”</a:t>
            </a:r>
          </a:p>
          <a:p>
            <a:pPr algn="l" marL="219456" indent="-219456">
              <a:lnSpc>
                <a:spcPct val="118000"/>
              </a:lnSpc>
              <a:spcBef>
                <a:spcPts val="1400"/>
              </a:spcBef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Biology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“Does the data require enzyme feedback in metabolism at all?”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94460" y="8321040"/>
            <a:ext cx="4023360" cy="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394460" y="6309360"/>
            <a:ext cx="0" cy="201168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94860" y="8357616"/>
            <a:ext cx="9144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1" b="0">
                <a:solidFill>
                  <a:srgbClr val="545454"/>
                </a:solidFill>
                <a:latin typeface="Newzald Light"/>
              </a:rPr>
              <a:t>time</a:t>
            </a:r>
          </a:p>
        </p:txBody>
      </p:sp>
      <p:sp>
        <p:nvSpPr>
          <p:cNvPr id="13" name="Freeform 12"/>
          <p:cNvSpPr/>
          <p:nvPr/>
        </p:nvSpPr>
        <p:spPr>
          <a:xfrm>
            <a:off x="1394460" y="6539059"/>
            <a:ext cx="4023360" cy="2043499"/>
          </a:xfrm>
          <a:custGeom>
            <a:avLst/>
            <a:gdLst/>
            <a:ahLst/>
            <a:cxnLst/>
            <a:rect l="l" t="t" r="r" b="b"/>
            <a:pathLst>
              <a:path w="4023360" h="2043499">
                <a:moveTo>
                  <a:pt x="0" y="1520462"/>
                </a:moveTo>
                <a:lnTo>
                  <a:pt x="100584" y="1428956"/>
                </a:lnTo>
                <a:lnTo>
                  <a:pt x="201168" y="1342346"/>
                </a:lnTo>
                <a:lnTo>
                  <a:pt x="301752" y="1260371"/>
                </a:lnTo>
                <a:lnTo>
                  <a:pt x="402336" y="1182783"/>
                </a:lnTo>
                <a:lnTo>
                  <a:pt x="502920" y="1109348"/>
                </a:lnTo>
                <a:lnTo>
                  <a:pt x="603504" y="1039842"/>
                </a:lnTo>
                <a:lnTo>
                  <a:pt x="704088" y="974056"/>
                </a:lnTo>
                <a:lnTo>
                  <a:pt x="804672" y="911790"/>
                </a:lnTo>
                <a:lnTo>
                  <a:pt x="905256" y="852856"/>
                </a:lnTo>
                <a:lnTo>
                  <a:pt x="1005840" y="797077"/>
                </a:lnTo>
                <a:lnTo>
                  <a:pt x="1106424" y="744282"/>
                </a:lnTo>
                <a:lnTo>
                  <a:pt x="1207008" y="694313"/>
                </a:lnTo>
                <a:lnTo>
                  <a:pt x="1307592" y="647017"/>
                </a:lnTo>
                <a:lnTo>
                  <a:pt x="1408176" y="602253"/>
                </a:lnTo>
                <a:lnTo>
                  <a:pt x="1508760" y="559884"/>
                </a:lnTo>
                <a:lnTo>
                  <a:pt x="1609344" y="519783"/>
                </a:lnTo>
                <a:lnTo>
                  <a:pt x="1709928" y="481828"/>
                </a:lnTo>
                <a:lnTo>
                  <a:pt x="1810512" y="445903"/>
                </a:lnTo>
                <a:lnTo>
                  <a:pt x="1911096" y="411902"/>
                </a:lnTo>
                <a:lnTo>
                  <a:pt x="2011680" y="379720"/>
                </a:lnTo>
                <a:lnTo>
                  <a:pt x="2112264" y="349260"/>
                </a:lnTo>
                <a:lnTo>
                  <a:pt x="2212848" y="320430"/>
                </a:lnTo>
                <a:lnTo>
                  <a:pt x="2313432" y="293143"/>
                </a:lnTo>
                <a:lnTo>
                  <a:pt x="2414016" y="267316"/>
                </a:lnTo>
                <a:lnTo>
                  <a:pt x="2514600" y="242872"/>
                </a:lnTo>
                <a:lnTo>
                  <a:pt x="2615184" y="219735"/>
                </a:lnTo>
                <a:lnTo>
                  <a:pt x="2715768" y="197837"/>
                </a:lnTo>
                <a:lnTo>
                  <a:pt x="2816352" y="177110"/>
                </a:lnTo>
                <a:lnTo>
                  <a:pt x="2916936" y="157493"/>
                </a:lnTo>
                <a:lnTo>
                  <a:pt x="3017520" y="138926"/>
                </a:lnTo>
                <a:lnTo>
                  <a:pt x="3118104" y="121352"/>
                </a:lnTo>
                <a:lnTo>
                  <a:pt x="3218688" y="104718"/>
                </a:lnTo>
                <a:lnTo>
                  <a:pt x="3319272" y="88975"/>
                </a:lnTo>
                <a:lnTo>
                  <a:pt x="3419856" y="74074"/>
                </a:lnTo>
                <a:lnTo>
                  <a:pt x="3520440" y="59971"/>
                </a:lnTo>
                <a:lnTo>
                  <a:pt x="3621024" y="46623"/>
                </a:lnTo>
                <a:lnTo>
                  <a:pt x="3721608" y="33988"/>
                </a:lnTo>
                <a:lnTo>
                  <a:pt x="3822192" y="22030"/>
                </a:lnTo>
                <a:lnTo>
                  <a:pt x="3922776" y="10712"/>
                </a:lnTo>
                <a:lnTo>
                  <a:pt x="4023360" y="0"/>
                </a:lnTo>
                <a:lnTo>
                  <a:pt x="4023360" y="523036"/>
                </a:lnTo>
                <a:lnTo>
                  <a:pt x="3922776" y="533749"/>
                </a:lnTo>
                <a:lnTo>
                  <a:pt x="3822192" y="545067"/>
                </a:lnTo>
                <a:lnTo>
                  <a:pt x="3721608" y="557025"/>
                </a:lnTo>
                <a:lnTo>
                  <a:pt x="3621024" y="569659"/>
                </a:lnTo>
                <a:lnTo>
                  <a:pt x="3520440" y="583008"/>
                </a:lnTo>
                <a:lnTo>
                  <a:pt x="3419856" y="597111"/>
                </a:lnTo>
                <a:lnTo>
                  <a:pt x="3319272" y="612012"/>
                </a:lnTo>
                <a:lnTo>
                  <a:pt x="3218688" y="627755"/>
                </a:lnTo>
                <a:lnTo>
                  <a:pt x="3118104" y="644389"/>
                </a:lnTo>
                <a:lnTo>
                  <a:pt x="3017520" y="661962"/>
                </a:lnTo>
                <a:lnTo>
                  <a:pt x="2916936" y="680530"/>
                </a:lnTo>
                <a:lnTo>
                  <a:pt x="2816352" y="700147"/>
                </a:lnTo>
                <a:lnTo>
                  <a:pt x="2715768" y="720874"/>
                </a:lnTo>
                <a:lnTo>
                  <a:pt x="2615184" y="742772"/>
                </a:lnTo>
                <a:lnTo>
                  <a:pt x="2514600" y="765908"/>
                </a:lnTo>
                <a:lnTo>
                  <a:pt x="2414016" y="790353"/>
                </a:lnTo>
                <a:lnTo>
                  <a:pt x="2313432" y="816180"/>
                </a:lnTo>
                <a:lnTo>
                  <a:pt x="2212848" y="843467"/>
                </a:lnTo>
                <a:lnTo>
                  <a:pt x="2112264" y="872297"/>
                </a:lnTo>
                <a:lnTo>
                  <a:pt x="2011680" y="902756"/>
                </a:lnTo>
                <a:lnTo>
                  <a:pt x="1911096" y="934939"/>
                </a:lnTo>
                <a:lnTo>
                  <a:pt x="1810512" y="968940"/>
                </a:lnTo>
                <a:lnTo>
                  <a:pt x="1709928" y="1004864"/>
                </a:lnTo>
                <a:lnTo>
                  <a:pt x="1609344" y="1042820"/>
                </a:lnTo>
                <a:lnTo>
                  <a:pt x="1508760" y="1082921"/>
                </a:lnTo>
                <a:lnTo>
                  <a:pt x="1408176" y="1125290"/>
                </a:lnTo>
                <a:lnTo>
                  <a:pt x="1307592" y="1170054"/>
                </a:lnTo>
                <a:lnTo>
                  <a:pt x="1207008" y="1217349"/>
                </a:lnTo>
                <a:lnTo>
                  <a:pt x="1106424" y="1267319"/>
                </a:lnTo>
                <a:lnTo>
                  <a:pt x="1005840" y="1320114"/>
                </a:lnTo>
                <a:lnTo>
                  <a:pt x="905256" y="1375893"/>
                </a:lnTo>
                <a:lnTo>
                  <a:pt x="804672" y="1434827"/>
                </a:lnTo>
                <a:lnTo>
                  <a:pt x="704088" y="1497092"/>
                </a:lnTo>
                <a:lnTo>
                  <a:pt x="603504" y="1562879"/>
                </a:lnTo>
                <a:lnTo>
                  <a:pt x="502920" y="1632385"/>
                </a:lnTo>
                <a:lnTo>
                  <a:pt x="402336" y="1705820"/>
                </a:lnTo>
                <a:lnTo>
                  <a:pt x="301752" y="1783408"/>
                </a:lnTo>
                <a:lnTo>
                  <a:pt x="201168" y="1865383"/>
                </a:lnTo>
                <a:lnTo>
                  <a:pt x="100584" y="1951992"/>
                </a:lnTo>
                <a:lnTo>
                  <a:pt x="0" y="2043499"/>
                </a:lnTo>
                <a:close/>
              </a:path>
            </a:pathLst>
          </a:custGeom>
          <a:solidFill>
            <a:srgbClr val="E7E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394460" y="6800577"/>
            <a:ext cx="4023360" cy="1520463"/>
          </a:xfrm>
          <a:custGeom>
            <a:avLst/>
            <a:gdLst/>
            <a:ahLst/>
            <a:cxnLst/>
            <a:rect l="l" t="t" r="r" b="b"/>
            <a:pathLst>
              <a:path w="4023360" h="1520463">
                <a:moveTo>
                  <a:pt x="0" y="1520463"/>
                </a:moveTo>
                <a:lnTo>
                  <a:pt x="100584" y="1428956"/>
                </a:lnTo>
                <a:lnTo>
                  <a:pt x="201168" y="1342346"/>
                </a:lnTo>
                <a:lnTo>
                  <a:pt x="301752" y="1260372"/>
                </a:lnTo>
                <a:lnTo>
                  <a:pt x="402336" y="1182784"/>
                </a:lnTo>
                <a:lnTo>
                  <a:pt x="502920" y="1109348"/>
                </a:lnTo>
                <a:lnTo>
                  <a:pt x="603504" y="1039842"/>
                </a:lnTo>
                <a:lnTo>
                  <a:pt x="704088" y="974056"/>
                </a:lnTo>
                <a:lnTo>
                  <a:pt x="804672" y="911790"/>
                </a:lnTo>
                <a:lnTo>
                  <a:pt x="905256" y="852857"/>
                </a:lnTo>
                <a:lnTo>
                  <a:pt x="1005840" y="797077"/>
                </a:lnTo>
                <a:lnTo>
                  <a:pt x="1106424" y="744282"/>
                </a:lnTo>
                <a:lnTo>
                  <a:pt x="1207008" y="694313"/>
                </a:lnTo>
                <a:lnTo>
                  <a:pt x="1307592" y="647018"/>
                </a:lnTo>
                <a:lnTo>
                  <a:pt x="1408176" y="602254"/>
                </a:lnTo>
                <a:lnTo>
                  <a:pt x="1508760" y="559885"/>
                </a:lnTo>
                <a:lnTo>
                  <a:pt x="1609344" y="519783"/>
                </a:lnTo>
                <a:lnTo>
                  <a:pt x="1709928" y="481828"/>
                </a:lnTo>
                <a:lnTo>
                  <a:pt x="1810512" y="445904"/>
                </a:lnTo>
                <a:lnTo>
                  <a:pt x="1911096" y="411902"/>
                </a:lnTo>
                <a:lnTo>
                  <a:pt x="2011680" y="379720"/>
                </a:lnTo>
                <a:lnTo>
                  <a:pt x="2112264" y="349260"/>
                </a:lnTo>
                <a:lnTo>
                  <a:pt x="2212848" y="320430"/>
                </a:lnTo>
                <a:lnTo>
                  <a:pt x="2313432" y="293143"/>
                </a:lnTo>
                <a:lnTo>
                  <a:pt x="2414016" y="267317"/>
                </a:lnTo>
                <a:lnTo>
                  <a:pt x="2514600" y="242872"/>
                </a:lnTo>
                <a:lnTo>
                  <a:pt x="2615184" y="219736"/>
                </a:lnTo>
                <a:lnTo>
                  <a:pt x="2715768" y="197837"/>
                </a:lnTo>
                <a:lnTo>
                  <a:pt x="2816352" y="177111"/>
                </a:lnTo>
                <a:lnTo>
                  <a:pt x="2916936" y="157493"/>
                </a:lnTo>
                <a:lnTo>
                  <a:pt x="3017520" y="138926"/>
                </a:lnTo>
                <a:lnTo>
                  <a:pt x="3118104" y="121352"/>
                </a:lnTo>
                <a:lnTo>
                  <a:pt x="3218688" y="104719"/>
                </a:lnTo>
                <a:lnTo>
                  <a:pt x="3319272" y="88976"/>
                </a:lnTo>
                <a:lnTo>
                  <a:pt x="3419856" y="74075"/>
                </a:lnTo>
                <a:lnTo>
                  <a:pt x="3520440" y="59972"/>
                </a:lnTo>
                <a:lnTo>
                  <a:pt x="3621024" y="46623"/>
                </a:lnTo>
                <a:lnTo>
                  <a:pt x="3721608" y="33989"/>
                </a:lnTo>
                <a:lnTo>
                  <a:pt x="3822192" y="22031"/>
                </a:lnTo>
                <a:lnTo>
                  <a:pt x="3922776" y="10712"/>
                </a:lnTo>
                <a:lnTo>
                  <a:pt x="4023360" y="0"/>
                </a:lnTo>
              </a:path>
            </a:pathLst>
          </a:custGeom>
          <a:noFill/>
          <a:ln w="254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4460" y="8732520"/>
            <a:ext cx="40233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250" i="1" b="0">
                <a:solidFill>
                  <a:srgbClr val="545454"/>
                </a:solidFill>
                <a:latin typeface="Newzald Light"/>
              </a:rPr>
              <a:t>prediction with a credible interval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0" y="8321040"/>
            <a:ext cx="4023360" cy="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132320" y="6309360"/>
            <a:ext cx="0" cy="201168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332720" y="8357616"/>
            <a:ext cx="9144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1" b="0">
                <a:solidFill>
                  <a:srgbClr val="545454"/>
                </a:solidFill>
                <a:latin typeface="Newzald Light"/>
              </a:rPr>
              <a:t>θ</a:t>
            </a:r>
          </a:p>
        </p:txBody>
      </p:sp>
      <p:sp>
        <p:nvSpPr>
          <p:cNvPr id="19" name="Freeform 18"/>
          <p:cNvSpPr/>
          <p:nvPr/>
        </p:nvSpPr>
        <p:spPr>
          <a:xfrm>
            <a:off x="7132320" y="6472894"/>
            <a:ext cx="4023360" cy="1848146"/>
          </a:xfrm>
          <a:custGeom>
            <a:avLst/>
            <a:gdLst/>
            <a:ahLst/>
            <a:cxnLst/>
            <a:rect l="l" t="t" r="r" b="b"/>
            <a:pathLst>
              <a:path w="4023360" h="1848146">
                <a:moveTo>
                  <a:pt x="0" y="1839405"/>
                </a:moveTo>
                <a:lnTo>
                  <a:pt x="83820" y="1832189"/>
                </a:lnTo>
                <a:lnTo>
                  <a:pt x="167640" y="1820042"/>
                </a:lnTo>
                <a:lnTo>
                  <a:pt x="251460" y="1800392"/>
                </a:lnTo>
                <a:lnTo>
                  <a:pt x="335280" y="1769861"/>
                </a:lnTo>
                <a:lnTo>
                  <a:pt x="419100" y="1724333"/>
                </a:lnTo>
                <a:lnTo>
                  <a:pt x="502920" y="1659226"/>
                </a:lnTo>
                <a:lnTo>
                  <a:pt x="586740" y="1570041"/>
                </a:lnTo>
                <a:lnTo>
                  <a:pt x="670560" y="1453176"/>
                </a:lnTo>
                <a:lnTo>
                  <a:pt x="754380" y="1306968"/>
                </a:lnTo>
                <a:lnTo>
                  <a:pt x="838200" y="1132764"/>
                </a:lnTo>
                <a:lnTo>
                  <a:pt x="922020" y="935804"/>
                </a:lnTo>
                <a:lnTo>
                  <a:pt x="1005840" y="725612"/>
                </a:lnTo>
                <a:lnTo>
                  <a:pt x="1089660" y="515658"/>
                </a:lnTo>
                <a:lnTo>
                  <a:pt x="1173480" y="322166"/>
                </a:lnTo>
                <a:lnTo>
                  <a:pt x="1257300" y="162152"/>
                </a:lnTo>
                <a:lnTo>
                  <a:pt x="1341120" y="50992"/>
                </a:lnTo>
                <a:lnTo>
                  <a:pt x="1424940" y="0"/>
                </a:lnTo>
                <a:lnTo>
                  <a:pt x="1508760" y="14527"/>
                </a:lnTo>
                <a:lnTo>
                  <a:pt x="1592580" y="93039"/>
                </a:lnTo>
                <a:lnTo>
                  <a:pt x="1676400" y="227381"/>
                </a:lnTo>
                <a:lnTo>
                  <a:pt x="1760220" y="404175"/>
                </a:lnTo>
                <a:lnTo>
                  <a:pt x="1844040" y="607012"/>
                </a:lnTo>
                <a:lnTo>
                  <a:pt x="1927860" y="818944"/>
                </a:lnTo>
                <a:lnTo>
                  <a:pt x="2011680" y="1024758"/>
                </a:lnTo>
                <a:lnTo>
                  <a:pt x="2095500" y="1212625"/>
                </a:lnTo>
                <a:lnTo>
                  <a:pt x="2179320" y="1374910"/>
                </a:lnTo>
                <a:lnTo>
                  <a:pt x="2263140" y="1508171"/>
                </a:lnTo>
                <a:lnTo>
                  <a:pt x="2346960" y="1612512"/>
                </a:lnTo>
                <a:lnTo>
                  <a:pt x="2430780" y="1690584"/>
                </a:lnTo>
                <a:lnTo>
                  <a:pt x="2514600" y="1746501"/>
                </a:lnTo>
                <a:lnTo>
                  <a:pt x="2598420" y="1784884"/>
                </a:lnTo>
                <a:lnTo>
                  <a:pt x="2682240" y="1810160"/>
                </a:lnTo>
                <a:lnTo>
                  <a:pt x="2766060" y="1826141"/>
                </a:lnTo>
                <a:lnTo>
                  <a:pt x="2849880" y="1835847"/>
                </a:lnTo>
                <a:lnTo>
                  <a:pt x="2933700" y="1841514"/>
                </a:lnTo>
                <a:lnTo>
                  <a:pt x="3017520" y="1844696"/>
                </a:lnTo>
                <a:lnTo>
                  <a:pt x="3101340" y="1846414"/>
                </a:lnTo>
                <a:lnTo>
                  <a:pt x="3185160" y="1847307"/>
                </a:lnTo>
                <a:lnTo>
                  <a:pt x="3268980" y="1847754"/>
                </a:lnTo>
                <a:lnTo>
                  <a:pt x="3352800" y="1847969"/>
                </a:lnTo>
                <a:lnTo>
                  <a:pt x="3436620" y="1848069"/>
                </a:lnTo>
                <a:lnTo>
                  <a:pt x="3520440" y="1848113"/>
                </a:lnTo>
                <a:lnTo>
                  <a:pt x="3604260" y="1848132"/>
                </a:lnTo>
                <a:lnTo>
                  <a:pt x="3688080" y="1848140"/>
                </a:lnTo>
                <a:lnTo>
                  <a:pt x="3771900" y="1848144"/>
                </a:lnTo>
                <a:lnTo>
                  <a:pt x="3855720" y="1848145"/>
                </a:lnTo>
                <a:lnTo>
                  <a:pt x="3939540" y="1848145"/>
                </a:lnTo>
                <a:lnTo>
                  <a:pt x="4023360" y="1848145"/>
                </a:lnTo>
                <a:lnTo>
                  <a:pt x="4023360" y="1848146"/>
                </a:lnTo>
                <a:lnTo>
                  <a:pt x="0" y="1848146"/>
                </a:lnTo>
                <a:close/>
              </a:path>
            </a:pathLst>
          </a:custGeom>
          <a:solidFill>
            <a:srgbClr val="E3F0DC"/>
          </a:solidFill>
          <a:ln w="22225">
            <a:solidFill>
              <a:srgbClr val="4A8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7132320" y="7216322"/>
            <a:ext cx="4023360" cy="1104718"/>
          </a:xfrm>
          <a:custGeom>
            <a:avLst/>
            <a:gdLst/>
            <a:ahLst/>
            <a:cxnLst/>
            <a:rect l="l" t="t" r="r" b="b"/>
            <a:pathLst>
              <a:path w="4023360" h="1104718">
                <a:moveTo>
                  <a:pt x="0" y="1104697"/>
                </a:moveTo>
                <a:lnTo>
                  <a:pt x="83820" y="1104678"/>
                </a:lnTo>
                <a:lnTo>
                  <a:pt x="167640" y="1104645"/>
                </a:lnTo>
                <a:lnTo>
                  <a:pt x="251460" y="1104585"/>
                </a:lnTo>
                <a:lnTo>
                  <a:pt x="335280" y="1104481"/>
                </a:lnTo>
                <a:lnTo>
                  <a:pt x="419100" y="1104303"/>
                </a:lnTo>
                <a:lnTo>
                  <a:pt x="502920" y="1104005"/>
                </a:lnTo>
                <a:lnTo>
                  <a:pt x="586740" y="1103515"/>
                </a:lnTo>
                <a:lnTo>
                  <a:pt x="670560" y="1102728"/>
                </a:lnTo>
                <a:lnTo>
                  <a:pt x="754380" y="1101489"/>
                </a:lnTo>
                <a:lnTo>
                  <a:pt x="838200" y="1099578"/>
                </a:lnTo>
                <a:lnTo>
                  <a:pt x="922020" y="1096692"/>
                </a:lnTo>
                <a:lnTo>
                  <a:pt x="1005840" y="1092426"/>
                </a:lnTo>
                <a:lnTo>
                  <a:pt x="1089660" y="1086252"/>
                </a:lnTo>
                <a:lnTo>
                  <a:pt x="1173480" y="1077506"/>
                </a:lnTo>
                <a:lnTo>
                  <a:pt x="1257300" y="1065384"/>
                </a:lnTo>
                <a:lnTo>
                  <a:pt x="1341120" y="1048948"/>
                </a:lnTo>
                <a:lnTo>
                  <a:pt x="1424940" y="1027154"/>
                </a:lnTo>
                <a:lnTo>
                  <a:pt x="1508760" y="998905"/>
                </a:lnTo>
                <a:lnTo>
                  <a:pt x="1592580" y="963126"/>
                </a:lnTo>
                <a:lnTo>
                  <a:pt x="1676400" y="918868"/>
                </a:lnTo>
                <a:lnTo>
                  <a:pt x="1760220" y="865437"/>
                </a:lnTo>
                <a:lnTo>
                  <a:pt x="1844040" y="802530"/>
                </a:lnTo>
                <a:lnTo>
                  <a:pt x="1927860" y="730376"/>
                </a:lnTo>
                <a:lnTo>
                  <a:pt x="2011680" y="649853"/>
                </a:lnTo>
                <a:lnTo>
                  <a:pt x="2095500" y="562569"/>
                </a:lnTo>
                <a:lnTo>
                  <a:pt x="2179320" y="470882"/>
                </a:lnTo>
                <a:lnTo>
                  <a:pt x="2263140" y="377846"/>
                </a:lnTo>
                <a:lnTo>
                  <a:pt x="2346960" y="287080"/>
                </a:lnTo>
                <a:lnTo>
                  <a:pt x="2430780" y="202551"/>
                </a:lnTo>
                <a:lnTo>
                  <a:pt x="2514600" y="128302"/>
                </a:lnTo>
                <a:lnTo>
                  <a:pt x="2598420" y="68132"/>
                </a:lnTo>
                <a:lnTo>
                  <a:pt x="2682240" y="25278"/>
                </a:lnTo>
                <a:lnTo>
                  <a:pt x="2766060" y="2129"/>
                </a:lnTo>
                <a:lnTo>
                  <a:pt x="2849880" y="0"/>
                </a:lnTo>
                <a:lnTo>
                  <a:pt x="2933700" y="19013"/>
                </a:lnTo>
                <a:lnTo>
                  <a:pt x="3017520" y="58085"/>
                </a:lnTo>
                <a:lnTo>
                  <a:pt x="3101340" y="115028"/>
                </a:lnTo>
                <a:lnTo>
                  <a:pt x="3185160" y="186752"/>
                </a:lnTo>
                <a:lnTo>
                  <a:pt x="3268980" y="269545"/>
                </a:lnTo>
                <a:lnTo>
                  <a:pt x="3352800" y="359388"/>
                </a:lnTo>
                <a:lnTo>
                  <a:pt x="3436620" y="452274"/>
                </a:lnTo>
                <a:lnTo>
                  <a:pt x="3520440" y="544496"/>
                </a:lnTo>
                <a:lnTo>
                  <a:pt x="3604260" y="632872"/>
                </a:lnTo>
                <a:lnTo>
                  <a:pt x="3688080" y="714900"/>
                </a:lnTo>
                <a:lnTo>
                  <a:pt x="3771900" y="788820"/>
                </a:lnTo>
                <a:lnTo>
                  <a:pt x="3855720" y="853614"/>
                </a:lnTo>
                <a:lnTo>
                  <a:pt x="3939540" y="908932"/>
                </a:lnTo>
                <a:lnTo>
                  <a:pt x="4023360" y="954979"/>
                </a:lnTo>
                <a:lnTo>
                  <a:pt x="4023360" y="1104718"/>
                </a:lnTo>
                <a:lnTo>
                  <a:pt x="0" y="1104718"/>
                </a:lnTo>
                <a:close/>
              </a:path>
            </a:pathLst>
          </a:custGeom>
          <a:solidFill>
            <a:srgbClr val="F7DEDA"/>
          </a:solidFill>
          <a:ln w="2222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8732520"/>
            <a:ext cx="40233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250" i="1" b="0">
                <a:solidFill>
                  <a:srgbClr val="545454"/>
                </a:solidFill>
                <a:latin typeface="Newzald Light"/>
              </a:rPr>
              <a:t>model comparison:  M₁  vs  M₂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870180" y="8321040"/>
            <a:ext cx="4023360" cy="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870180" y="6309360"/>
            <a:ext cx="0" cy="201168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6070580" y="8357616"/>
            <a:ext cx="9144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1" b="0">
                <a:solidFill>
                  <a:srgbClr val="545454"/>
                </a:solidFill>
                <a:latin typeface="Newzald Light"/>
              </a:rPr>
              <a:t>θ</a:t>
            </a:r>
          </a:p>
        </p:txBody>
      </p:sp>
      <p:sp>
        <p:nvSpPr>
          <p:cNvPr id="25" name="Freeform 24"/>
          <p:cNvSpPr/>
          <p:nvPr/>
        </p:nvSpPr>
        <p:spPr>
          <a:xfrm>
            <a:off x="12870180" y="7637068"/>
            <a:ext cx="4023360" cy="683972"/>
          </a:xfrm>
          <a:custGeom>
            <a:avLst/>
            <a:gdLst/>
            <a:ahLst/>
            <a:cxnLst/>
            <a:rect l="l" t="t" r="r" b="b"/>
            <a:pathLst>
              <a:path w="4023360" h="683972">
                <a:moveTo>
                  <a:pt x="0" y="513422"/>
                </a:moveTo>
                <a:lnTo>
                  <a:pt x="83820" y="492956"/>
                </a:lnTo>
                <a:lnTo>
                  <a:pt x="167640" y="471063"/>
                </a:lnTo>
                <a:lnTo>
                  <a:pt x="251460" y="447802"/>
                </a:lnTo>
                <a:lnTo>
                  <a:pt x="335280" y="423261"/>
                </a:lnTo>
                <a:lnTo>
                  <a:pt x="419100" y="397554"/>
                </a:lnTo>
                <a:lnTo>
                  <a:pt x="502920" y="370827"/>
                </a:lnTo>
                <a:lnTo>
                  <a:pt x="586740" y="343252"/>
                </a:lnTo>
                <a:lnTo>
                  <a:pt x="670560" y="315032"/>
                </a:lnTo>
                <a:lnTo>
                  <a:pt x="754380" y="286397"/>
                </a:lnTo>
                <a:lnTo>
                  <a:pt x="838200" y="257601"/>
                </a:lnTo>
                <a:lnTo>
                  <a:pt x="922020" y="228919"/>
                </a:lnTo>
                <a:lnTo>
                  <a:pt x="1005840" y="200644"/>
                </a:lnTo>
                <a:lnTo>
                  <a:pt x="1089660" y="173082"/>
                </a:lnTo>
                <a:lnTo>
                  <a:pt x="1173480" y="146546"/>
                </a:lnTo>
                <a:lnTo>
                  <a:pt x="1257300" y="121352"/>
                </a:lnTo>
                <a:lnTo>
                  <a:pt x="1341120" y="97810"/>
                </a:lnTo>
                <a:lnTo>
                  <a:pt x="1424940" y="76221"/>
                </a:lnTo>
                <a:lnTo>
                  <a:pt x="1508760" y="56869"/>
                </a:lnTo>
                <a:lnTo>
                  <a:pt x="1592580" y="40013"/>
                </a:lnTo>
                <a:lnTo>
                  <a:pt x="1676400" y="25886"/>
                </a:lnTo>
                <a:lnTo>
                  <a:pt x="1760220" y="14684"/>
                </a:lnTo>
                <a:lnTo>
                  <a:pt x="1844040" y="6566"/>
                </a:lnTo>
                <a:lnTo>
                  <a:pt x="1927860" y="1648"/>
                </a:lnTo>
                <a:lnTo>
                  <a:pt x="2011680" y="0"/>
                </a:lnTo>
                <a:lnTo>
                  <a:pt x="2095500" y="1648"/>
                </a:lnTo>
                <a:lnTo>
                  <a:pt x="2179320" y="6566"/>
                </a:lnTo>
                <a:lnTo>
                  <a:pt x="2263140" y="14684"/>
                </a:lnTo>
                <a:lnTo>
                  <a:pt x="2346960" y="25886"/>
                </a:lnTo>
                <a:lnTo>
                  <a:pt x="2430780" y="40013"/>
                </a:lnTo>
                <a:lnTo>
                  <a:pt x="2514600" y="56869"/>
                </a:lnTo>
                <a:lnTo>
                  <a:pt x="2598420" y="76221"/>
                </a:lnTo>
                <a:lnTo>
                  <a:pt x="2682240" y="97810"/>
                </a:lnTo>
                <a:lnTo>
                  <a:pt x="2766060" y="121352"/>
                </a:lnTo>
                <a:lnTo>
                  <a:pt x="2849880" y="146546"/>
                </a:lnTo>
                <a:lnTo>
                  <a:pt x="2933700" y="173082"/>
                </a:lnTo>
                <a:lnTo>
                  <a:pt x="3017520" y="200644"/>
                </a:lnTo>
                <a:lnTo>
                  <a:pt x="3101340" y="228919"/>
                </a:lnTo>
                <a:lnTo>
                  <a:pt x="3185160" y="257601"/>
                </a:lnTo>
                <a:lnTo>
                  <a:pt x="3268980" y="286397"/>
                </a:lnTo>
                <a:lnTo>
                  <a:pt x="3352800" y="315032"/>
                </a:lnTo>
                <a:lnTo>
                  <a:pt x="3436620" y="343252"/>
                </a:lnTo>
                <a:lnTo>
                  <a:pt x="3520440" y="370827"/>
                </a:lnTo>
                <a:lnTo>
                  <a:pt x="3604260" y="397554"/>
                </a:lnTo>
                <a:lnTo>
                  <a:pt x="3688080" y="423261"/>
                </a:lnTo>
                <a:lnTo>
                  <a:pt x="3771900" y="447802"/>
                </a:lnTo>
                <a:lnTo>
                  <a:pt x="3855720" y="471063"/>
                </a:lnTo>
                <a:lnTo>
                  <a:pt x="3939540" y="492956"/>
                </a:lnTo>
                <a:lnTo>
                  <a:pt x="4023360" y="513422"/>
                </a:lnTo>
                <a:lnTo>
                  <a:pt x="4023360" y="683972"/>
                </a:lnTo>
                <a:lnTo>
                  <a:pt x="0" y="683972"/>
                </a:lnTo>
                <a:close/>
              </a:path>
            </a:pathLst>
          </a:cu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2870180" y="6470551"/>
            <a:ext cx="4023360" cy="1850489"/>
          </a:xfrm>
          <a:custGeom>
            <a:avLst/>
            <a:gdLst/>
            <a:ahLst/>
            <a:cxnLst/>
            <a:rect l="l" t="t" r="r" b="b"/>
            <a:pathLst>
              <a:path w="4023360" h="1850489">
                <a:moveTo>
                  <a:pt x="0" y="1850488"/>
                </a:moveTo>
                <a:lnTo>
                  <a:pt x="83820" y="1850486"/>
                </a:lnTo>
                <a:lnTo>
                  <a:pt x="167640" y="1850481"/>
                </a:lnTo>
                <a:lnTo>
                  <a:pt x="251460" y="1850468"/>
                </a:lnTo>
                <a:lnTo>
                  <a:pt x="335280" y="1850434"/>
                </a:lnTo>
                <a:lnTo>
                  <a:pt x="419100" y="1850350"/>
                </a:lnTo>
                <a:lnTo>
                  <a:pt x="502920" y="1850152"/>
                </a:lnTo>
                <a:lnTo>
                  <a:pt x="586740" y="1849706"/>
                </a:lnTo>
                <a:lnTo>
                  <a:pt x="670560" y="1848748"/>
                </a:lnTo>
                <a:lnTo>
                  <a:pt x="754380" y="1846780"/>
                </a:lnTo>
                <a:lnTo>
                  <a:pt x="838200" y="1842926"/>
                </a:lnTo>
                <a:lnTo>
                  <a:pt x="922020" y="1835720"/>
                </a:lnTo>
                <a:lnTo>
                  <a:pt x="1005840" y="1822874"/>
                </a:lnTo>
                <a:lnTo>
                  <a:pt x="1089660" y="1801046"/>
                </a:lnTo>
                <a:lnTo>
                  <a:pt x="1173480" y="1765724"/>
                </a:lnTo>
                <a:lnTo>
                  <a:pt x="1257300" y="1711341"/>
                </a:lnTo>
                <a:lnTo>
                  <a:pt x="1341120" y="1631769"/>
                </a:lnTo>
                <a:lnTo>
                  <a:pt x="1424940" y="1521296"/>
                </a:lnTo>
                <a:lnTo>
                  <a:pt x="1508760" y="1376068"/>
                </a:lnTo>
                <a:lnTo>
                  <a:pt x="1592580" y="1195811"/>
                </a:lnTo>
                <a:lnTo>
                  <a:pt x="1676400" y="985438"/>
                </a:lnTo>
                <a:lnTo>
                  <a:pt x="1760220" y="756012"/>
                </a:lnTo>
                <a:lnTo>
                  <a:pt x="1844040" y="524555"/>
                </a:lnTo>
                <a:lnTo>
                  <a:pt x="1927860" y="312379"/>
                </a:lnTo>
                <a:lnTo>
                  <a:pt x="2011680" y="142035"/>
                </a:lnTo>
                <a:lnTo>
                  <a:pt x="2095500" y="33427"/>
                </a:lnTo>
                <a:lnTo>
                  <a:pt x="2179320" y="0"/>
                </a:lnTo>
                <a:lnTo>
                  <a:pt x="2263140" y="46002"/>
                </a:lnTo>
                <a:lnTo>
                  <a:pt x="2346960" y="165599"/>
                </a:lnTo>
                <a:lnTo>
                  <a:pt x="2430780" y="344092"/>
                </a:lnTo>
                <a:lnTo>
                  <a:pt x="2514600" y="560880"/>
                </a:lnTo>
                <a:lnTo>
                  <a:pt x="2598420" y="793363"/>
                </a:lnTo>
                <a:lnTo>
                  <a:pt x="2682240" y="1020741"/>
                </a:lnTo>
                <a:lnTo>
                  <a:pt x="2766060" y="1226875"/>
                </a:lnTo>
                <a:lnTo>
                  <a:pt x="2849880" y="1401706"/>
                </a:lnTo>
                <a:lnTo>
                  <a:pt x="2933700" y="1541241"/>
                </a:lnTo>
                <a:lnTo>
                  <a:pt x="3017520" y="1646443"/>
                </a:lnTo>
                <a:lnTo>
                  <a:pt x="3101340" y="1721575"/>
                </a:lnTo>
                <a:lnTo>
                  <a:pt x="3185160" y="1772502"/>
                </a:lnTo>
                <a:lnTo>
                  <a:pt x="3268980" y="1805314"/>
                </a:lnTo>
                <a:lnTo>
                  <a:pt x="3352800" y="1825432"/>
                </a:lnTo>
                <a:lnTo>
                  <a:pt x="3436620" y="1837181"/>
                </a:lnTo>
                <a:lnTo>
                  <a:pt x="3520440" y="1843721"/>
                </a:lnTo>
                <a:lnTo>
                  <a:pt x="3604260" y="1847193"/>
                </a:lnTo>
                <a:lnTo>
                  <a:pt x="3688080" y="1848952"/>
                </a:lnTo>
                <a:lnTo>
                  <a:pt x="3771900" y="1849803"/>
                </a:lnTo>
                <a:lnTo>
                  <a:pt x="3855720" y="1850195"/>
                </a:lnTo>
                <a:lnTo>
                  <a:pt x="3939540" y="1850368"/>
                </a:lnTo>
                <a:lnTo>
                  <a:pt x="4023360" y="1850441"/>
                </a:lnTo>
                <a:lnTo>
                  <a:pt x="4023360" y="1850489"/>
                </a:lnTo>
                <a:lnTo>
                  <a:pt x="0" y="1850489"/>
                </a:lnTo>
                <a:close/>
              </a:path>
            </a:pathLst>
          </a:custGeom>
          <a:solidFill>
            <a:srgbClr val="E7E0F1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70180" y="8732520"/>
            <a:ext cx="40233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250" i="1" b="0">
                <a:solidFill>
                  <a:srgbClr val="545454"/>
                </a:solidFill>
                <a:latin typeface="Newzald Light"/>
              </a:rPr>
              <a:t>identifiability:  prior  vs  posterior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Which predictions can you trust?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Propagate the posterior through the model, and the predictions sort themselves into two kinds.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62020" y="9620000"/>
            <a:ext cx="109728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0" b="0">
                <a:solidFill>
                  <a:srgbClr val="545454"/>
                </a:solidFill>
                <a:latin typeface="Newzald Ligh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2743200"/>
            <a:ext cx="7498080" cy="3931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2000" i="0" b="0">
                <a:solidFill>
                  <a:srgbClr val="101010"/>
                </a:solidFill>
                <a:latin typeface="Newzald Light"/>
              </a:rPr>
              <a:t>Robust.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Barely moves across the posterior. You can trust this output regardless of what you don't know about the parameters.</a:t>
            </a:r>
          </a:p>
          <a:p>
            <a:pPr algn="l" marL="219456" indent="-219456">
              <a:lnSpc>
                <a:spcPct val="118000"/>
              </a:lnSpc>
              <a:spcBef>
                <a:spcPts val="2600"/>
              </a:spcBef>
              <a:buChar char="•"/>
            </a:pPr>
            <a:r>
              <a:rPr sz="2000" i="0" b="0">
                <a:solidFill>
                  <a:srgbClr val="101010"/>
                </a:solidFill>
                <a:latin typeface="Newzald Light"/>
              </a:rPr>
              <a:t>Fragile.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Swings wildly. Sensitive to parameters the data cannot constrain — this is where you need more data, or a simpler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6949440"/>
            <a:ext cx="7498080" cy="1463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sz="1800" i="1" b="0">
                <a:solidFill>
                  <a:srgbClr val="545454"/>
                </a:solidFill>
                <a:latin typeface="Newzald Light"/>
              </a:rPr>
              <a:t>Same model, same run, two very different levels of trust — and nothing on the surface distinguishes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697480"/>
            <a:ext cx="694944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4A8F38"/>
                </a:solidFill>
                <a:latin typeface="Newzald Bold"/>
              </a:rPr>
              <a:t>Robust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149840" y="5303520"/>
            <a:ext cx="6035040" cy="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9840" y="3200400"/>
            <a:ext cx="0" cy="210312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361920" y="5340096"/>
            <a:ext cx="9144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1" b="0">
                <a:solidFill>
                  <a:srgbClr val="545454"/>
                </a:solidFill>
                <a:latin typeface="Newzald Light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04704" y="3182112"/>
            <a:ext cx="12801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1" b="0">
                <a:solidFill>
                  <a:srgbClr val="545454"/>
                </a:solidFill>
                <a:latin typeface="Newzald Light"/>
              </a:rPr>
              <a:t>growth rate</a:t>
            </a:r>
          </a:p>
        </p:txBody>
      </p:sp>
      <p:sp>
        <p:nvSpPr>
          <p:cNvPr id="15" name="Freeform 14"/>
          <p:cNvSpPr/>
          <p:nvPr/>
        </p:nvSpPr>
        <p:spPr>
          <a:xfrm>
            <a:off x="10149840" y="3572884"/>
            <a:ext cx="6035040" cy="1835792"/>
          </a:xfrm>
          <a:custGeom>
            <a:avLst/>
            <a:gdLst/>
            <a:ahLst/>
            <a:cxnLst/>
            <a:rect l="l" t="t" r="r" b="b"/>
            <a:pathLst>
              <a:path w="6035040" h="1835792">
                <a:moveTo>
                  <a:pt x="0" y="1625480"/>
                </a:moveTo>
                <a:lnTo>
                  <a:pt x="150876" y="1521375"/>
                </a:lnTo>
                <a:lnTo>
                  <a:pt x="301752" y="1423333"/>
                </a:lnTo>
                <a:lnTo>
                  <a:pt x="452628" y="1331000"/>
                </a:lnTo>
                <a:lnTo>
                  <a:pt x="603504" y="1244044"/>
                </a:lnTo>
                <a:lnTo>
                  <a:pt x="754380" y="1162153"/>
                </a:lnTo>
                <a:lnTo>
                  <a:pt x="905256" y="1085030"/>
                </a:lnTo>
                <a:lnTo>
                  <a:pt x="1056132" y="1012399"/>
                </a:lnTo>
                <a:lnTo>
                  <a:pt x="1207008" y="943997"/>
                </a:lnTo>
                <a:lnTo>
                  <a:pt x="1357884" y="879579"/>
                </a:lnTo>
                <a:lnTo>
                  <a:pt x="1508760" y="818912"/>
                </a:lnTo>
                <a:lnTo>
                  <a:pt x="1659636" y="761778"/>
                </a:lnTo>
                <a:lnTo>
                  <a:pt x="1810512" y="707971"/>
                </a:lnTo>
                <a:lnTo>
                  <a:pt x="1961388" y="657298"/>
                </a:lnTo>
                <a:lnTo>
                  <a:pt x="2112264" y="609576"/>
                </a:lnTo>
                <a:lnTo>
                  <a:pt x="2263140" y="564633"/>
                </a:lnTo>
                <a:lnTo>
                  <a:pt x="2414016" y="522307"/>
                </a:lnTo>
                <a:lnTo>
                  <a:pt x="2564892" y="482446"/>
                </a:lnTo>
                <a:lnTo>
                  <a:pt x="2715768" y="444906"/>
                </a:lnTo>
                <a:lnTo>
                  <a:pt x="2866644" y="409553"/>
                </a:lnTo>
                <a:lnTo>
                  <a:pt x="3017520" y="376258"/>
                </a:lnTo>
                <a:lnTo>
                  <a:pt x="3168396" y="344902"/>
                </a:lnTo>
                <a:lnTo>
                  <a:pt x="3319272" y="315372"/>
                </a:lnTo>
                <a:lnTo>
                  <a:pt x="3470148" y="287562"/>
                </a:lnTo>
                <a:lnTo>
                  <a:pt x="3621024" y="261372"/>
                </a:lnTo>
                <a:lnTo>
                  <a:pt x="3771900" y="236707"/>
                </a:lnTo>
                <a:lnTo>
                  <a:pt x="3922776" y="213478"/>
                </a:lnTo>
                <a:lnTo>
                  <a:pt x="4073652" y="191602"/>
                </a:lnTo>
                <a:lnTo>
                  <a:pt x="4224528" y="170999"/>
                </a:lnTo>
                <a:lnTo>
                  <a:pt x="4375404" y="151597"/>
                </a:lnTo>
                <a:lnTo>
                  <a:pt x="4526280" y="133324"/>
                </a:lnTo>
                <a:lnTo>
                  <a:pt x="4677156" y="116116"/>
                </a:lnTo>
                <a:lnTo>
                  <a:pt x="4828032" y="99910"/>
                </a:lnTo>
                <a:lnTo>
                  <a:pt x="4978908" y="84647"/>
                </a:lnTo>
                <a:lnTo>
                  <a:pt x="5129784" y="70274"/>
                </a:lnTo>
                <a:lnTo>
                  <a:pt x="5280660" y="56737"/>
                </a:lnTo>
                <a:lnTo>
                  <a:pt x="5431536" y="43989"/>
                </a:lnTo>
                <a:lnTo>
                  <a:pt x="5582412" y="31983"/>
                </a:lnTo>
                <a:lnTo>
                  <a:pt x="5733288" y="20676"/>
                </a:lnTo>
                <a:lnTo>
                  <a:pt x="5884164" y="10028"/>
                </a:lnTo>
                <a:lnTo>
                  <a:pt x="6035040" y="0"/>
                </a:lnTo>
                <a:lnTo>
                  <a:pt x="6035040" y="210312"/>
                </a:lnTo>
                <a:lnTo>
                  <a:pt x="5884164" y="220340"/>
                </a:lnTo>
                <a:lnTo>
                  <a:pt x="5733288" y="230988"/>
                </a:lnTo>
                <a:lnTo>
                  <a:pt x="5582412" y="242295"/>
                </a:lnTo>
                <a:lnTo>
                  <a:pt x="5431536" y="254301"/>
                </a:lnTo>
                <a:lnTo>
                  <a:pt x="5280660" y="267049"/>
                </a:lnTo>
                <a:lnTo>
                  <a:pt x="5129784" y="280586"/>
                </a:lnTo>
                <a:lnTo>
                  <a:pt x="4978908" y="294959"/>
                </a:lnTo>
                <a:lnTo>
                  <a:pt x="4828032" y="310222"/>
                </a:lnTo>
                <a:lnTo>
                  <a:pt x="4677156" y="326428"/>
                </a:lnTo>
                <a:lnTo>
                  <a:pt x="4526280" y="343636"/>
                </a:lnTo>
                <a:lnTo>
                  <a:pt x="4375404" y="361909"/>
                </a:lnTo>
                <a:lnTo>
                  <a:pt x="4224528" y="381311"/>
                </a:lnTo>
                <a:lnTo>
                  <a:pt x="4073652" y="401914"/>
                </a:lnTo>
                <a:lnTo>
                  <a:pt x="3922776" y="423790"/>
                </a:lnTo>
                <a:lnTo>
                  <a:pt x="3771900" y="447019"/>
                </a:lnTo>
                <a:lnTo>
                  <a:pt x="3621024" y="471684"/>
                </a:lnTo>
                <a:lnTo>
                  <a:pt x="3470148" y="497874"/>
                </a:lnTo>
                <a:lnTo>
                  <a:pt x="3319272" y="525684"/>
                </a:lnTo>
                <a:lnTo>
                  <a:pt x="3168396" y="555214"/>
                </a:lnTo>
                <a:lnTo>
                  <a:pt x="3017520" y="586570"/>
                </a:lnTo>
                <a:lnTo>
                  <a:pt x="2866644" y="619865"/>
                </a:lnTo>
                <a:lnTo>
                  <a:pt x="2715768" y="655218"/>
                </a:lnTo>
                <a:lnTo>
                  <a:pt x="2564892" y="692758"/>
                </a:lnTo>
                <a:lnTo>
                  <a:pt x="2414016" y="732619"/>
                </a:lnTo>
                <a:lnTo>
                  <a:pt x="2263140" y="774945"/>
                </a:lnTo>
                <a:lnTo>
                  <a:pt x="2112264" y="819888"/>
                </a:lnTo>
                <a:lnTo>
                  <a:pt x="1961388" y="867610"/>
                </a:lnTo>
                <a:lnTo>
                  <a:pt x="1810512" y="918283"/>
                </a:lnTo>
                <a:lnTo>
                  <a:pt x="1659636" y="972090"/>
                </a:lnTo>
                <a:lnTo>
                  <a:pt x="1508760" y="1029224"/>
                </a:lnTo>
                <a:lnTo>
                  <a:pt x="1357884" y="1089891"/>
                </a:lnTo>
                <a:lnTo>
                  <a:pt x="1207008" y="1154309"/>
                </a:lnTo>
                <a:lnTo>
                  <a:pt x="1056132" y="1222711"/>
                </a:lnTo>
                <a:lnTo>
                  <a:pt x="905256" y="1295342"/>
                </a:lnTo>
                <a:lnTo>
                  <a:pt x="754380" y="1372465"/>
                </a:lnTo>
                <a:lnTo>
                  <a:pt x="603504" y="1454356"/>
                </a:lnTo>
                <a:lnTo>
                  <a:pt x="452628" y="1541312"/>
                </a:lnTo>
                <a:lnTo>
                  <a:pt x="301752" y="1633645"/>
                </a:lnTo>
                <a:lnTo>
                  <a:pt x="150876" y="1731687"/>
                </a:lnTo>
                <a:lnTo>
                  <a:pt x="0" y="1835792"/>
                </a:lnTo>
                <a:close/>
              </a:path>
            </a:pathLst>
          </a:custGeom>
          <a:solidFill>
            <a:srgbClr val="E3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149840" y="3678040"/>
            <a:ext cx="6035040" cy="1625480"/>
          </a:xfrm>
          <a:custGeom>
            <a:avLst/>
            <a:gdLst/>
            <a:ahLst/>
            <a:cxnLst/>
            <a:rect l="l" t="t" r="r" b="b"/>
            <a:pathLst>
              <a:path w="6035040" h="1625480">
                <a:moveTo>
                  <a:pt x="0" y="1625480"/>
                </a:moveTo>
                <a:lnTo>
                  <a:pt x="150876" y="1521375"/>
                </a:lnTo>
                <a:lnTo>
                  <a:pt x="301752" y="1423333"/>
                </a:lnTo>
                <a:lnTo>
                  <a:pt x="452628" y="1331000"/>
                </a:lnTo>
                <a:lnTo>
                  <a:pt x="603504" y="1244044"/>
                </a:lnTo>
                <a:lnTo>
                  <a:pt x="754380" y="1162153"/>
                </a:lnTo>
                <a:lnTo>
                  <a:pt x="905256" y="1085030"/>
                </a:lnTo>
                <a:lnTo>
                  <a:pt x="1056132" y="1012399"/>
                </a:lnTo>
                <a:lnTo>
                  <a:pt x="1207008" y="943997"/>
                </a:lnTo>
                <a:lnTo>
                  <a:pt x="1357884" y="879579"/>
                </a:lnTo>
                <a:lnTo>
                  <a:pt x="1508760" y="818912"/>
                </a:lnTo>
                <a:lnTo>
                  <a:pt x="1659636" y="761778"/>
                </a:lnTo>
                <a:lnTo>
                  <a:pt x="1810512" y="707971"/>
                </a:lnTo>
                <a:lnTo>
                  <a:pt x="1961388" y="657298"/>
                </a:lnTo>
                <a:lnTo>
                  <a:pt x="2112264" y="609576"/>
                </a:lnTo>
                <a:lnTo>
                  <a:pt x="2263140" y="564633"/>
                </a:lnTo>
                <a:lnTo>
                  <a:pt x="2414016" y="522307"/>
                </a:lnTo>
                <a:lnTo>
                  <a:pt x="2564892" y="482446"/>
                </a:lnTo>
                <a:lnTo>
                  <a:pt x="2715768" y="444906"/>
                </a:lnTo>
                <a:lnTo>
                  <a:pt x="2866644" y="409553"/>
                </a:lnTo>
                <a:lnTo>
                  <a:pt x="3017520" y="376258"/>
                </a:lnTo>
                <a:lnTo>
                  <a:pt x="3168396" y="344902"/>
                </a:lnTo>
                <a:lnTo>
                  <a:pt x="3319272" y="315372"/>
                </a:lnTo>
                <a:lnTo>
                  <a:pt x="3470148" y="287562"/>
                </a:lnTo>
                <a:lnTo>
                  <a:pt x="3621024" y="261372"/>
                </a:lnTo>
                <a:lnTo>
                  <a:pt x="3771900" y="236707"/>
                </a:lnTo>
                <a:lnTo>
                  <a:pt x="3922776" y="213478"/>
                </a:lnTo>
                <a:lnTo>
                  <a:pt x="4073652" y="191602"/>
                </a:lnTo>
                <a:lnTo>
                  <a:pt x="4224528" y="170999"/>
                </a:lnTo>
                <a:lnTo>
                  <a:pt x="4375404" y="151597"/>
                </a:lnTo>
                <a:lnTo>
                  <a:pt x="4526280" y="133324"/>
                </a:lnTo>
                <a:lnTo>
                  <a:pt x="4677156" y="116116"/>
                </a:lnTo>
                <a:lnTo>
                  <a:pt x="4828032" y="99910"/>
                </a:lnTo>
                <a:lnTo>
                  <a:pt x="4978908" y="84647"/>
                </a:lnTo>
                <a:lnTo>
                  <a:pt x="5129784" y="70274"/>
                </a:lnTo>
                <a:lnTo>
                  <a:pt x="5280660" y="56737"/>
                </a:lnTo>
                <a:lnTo>
                  <a:pt x="5431536" y="43989"/>
                </a:lnTo>
                <a:lnTo>
                  <a:pt x="5582412" y="31983"/>
                </a:lnTo>
                <a:lnTo>
                  <a:pt x="5733288" y="20676"/>
                </a:lnTo>
                <a:lnTo>
                  <a:pt x="5884164" y="10028"/>
                </a:lnTo>
                <a:lnTo>
                  <a:pt x="6035040" y="0"/>
                </a:lnTo>
              </a:path>
            </a:pathLst>
          </a:custGeom>
          <a:noFill/>
          <a:ln w="25400">
            <a:solidFill>
              <a:srgbClr val="4A8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5687568"/>
            <a:ext cx="603504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250" i="1" b="0">
                <a:solidFill>
                  <a:srgbClr val="545454"/>
                </a:solidFill>
                <a:latin typeface="Newzald Light"/>
              </a:rPr>
              <a:t>narrow credible interval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5989320"/>
            <a:ext cx="694944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B03A2E"/>
                </a:solidFill>
                <a:latin typeface="Newzald Bold"/>
              </a:rPr>
              <a:t>Fragile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149840" y="8595360"/>
            <a:ext cx="6035040" cy="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149840" y="6492240"/>
            <a:ext cx="0" cy="210312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5361920" y="8631936"/>
            <a:ext cx="9144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1" b="0">
                <a:solidFill>
                  <a:srgbClr val="545454"/>
                </a:solidFill>
                <a:latin typeface="Newzald Light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04704" y="6473952"/>
            <a:ext cx="12801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1" b="0">
                <a:solidFill>
                  <a:srgbClr val="545454"/>
                </a:solidFill>
                <a:latin typeface="Newzald Light"/>
              </a:rPr>
              <a:t>metabolic flux</a:t>
            </a:r>
          </a:p>
        </p:txBody>
      </p:sp>
      <p:sp>
        <p:nvSpPr>
          <p:cNvPr id="23" name="Freeform 22"/>
          <p:cNvSpPr/>
          <p:nvPr/>
        </p:nvSpPr>
        <p:spPr>
          <a:xfrm>
            <a:off x="10149840" y="6338944"/>
            <a:ext cx="6035040" cy="2887352"/>
          </a:xfrm>
          <a:custGeom>
            <a:avLst/>
            <a:gdLst/>
            <a:ahLst/>
            <a:cxnLst/>
            <a:rect l="l" t="t" r="r" b="b"/>
            <a:pathLst>
              <a:path w="6035040" h="2887352">
                <a:moveTo>
                  <a:pt x="0" y="1625480"/>
                </a:moveTo>
                <a:lnTo>
                  <a:pt x="150876" y="1521375"/>
                </a:lnTo>
                <a:lnTo>
                  <a:pt x="301752" y="1423333"/>
                </a:lnTo>
                <a:lnTo>
                  <a:pt x="452628" y="1331000"/>
                </a:lnTo>
                <a:lnTo>
                  <a:pt x="603504" y="1244044"/>
                </a:lnTo>
                <a:lnTo>
                  <a:pt x="754380" y="1162153"/>
                </a:lnTo>
                <a:lnTo>
                  <a:pt x="905256" y="1085030"/>
                </a:lnTo>
                <a:lnTo>
                  <a:pt x="1056132" y="1012399"/>
                </a:lnTo>
                <a:lnTo>
                  <a:pt x="1207008" y="943997"/>
                </a:lnTo>
                <a:lnTo>
                  <a:pt x="1357884" y="879579"/>
                </a:lnTo>
                <a:lnTo>
                  <a:pt x="1508760" y="818912"/>
                </a:lnTo>
                <a:lnTo>
                  <a:pt x="1659636" y="761778"/>
                </a:lnTo>
                <a:lnTo>
                  <a:pt x="1810512" y="707971"/>
                </a:lnTo>
                <a:lnTo>
                  <a:pt x="1961388" y="657298"/>
                </a:lnTo>
                <a:lnTo>
                  <a:pt x="2112264" y="609576"/>
                </a:lnTo>
                <a:lnTo>
                  <a:pt x="2263140" y="564633"/>
                </a:lnTo>
                <a:lnTo>
                  <a:pt x="2414016" y="522307"/>
                </a:lnTo>
                <a:lnTo>
                  <a:pt x="2564892" y="482446"/>
                </a:lnTo>
                <a:lnTo>
                  <a:pt x="2715768" y="444906"/>
                </a:lnTo>
                <a:lnTo>
                  <a:pt x="2866644" y="409553"/>
                </a:lnTo>
                <a:lnTo>
                  <a:pt x="3017520" y="376258"/>
                </a:lnTo>
                <a:lnTo>
                  <a:pt x="3168396" y="344902"/>
                </a:lnTo>
                <a:lnTo>
                  <a:pt x="3319272" y="315372"/>
                </a:lnTo>
                <a:lnTo>
                  <a:pt x="3470148" y="287562"/>
                </a:lnTo>
                <a:lnTo>
                  <a:pt x="3621024" y="261372"/>
                </a:lnTo>
                <a:lnTo>
                  <a:pt x="3771900" y="236707"/>
                </a:lnTo>
                <a:lnTo>
                  <a:pt x="3922776" y="213478"/>
                </a:lnTo>
                <a:lnTo>
                  <a:pt x="4073652" y="191602"/>
                </a:lnTo>
                <a:lnTo>
                  <a:pt x="4224528" y="170999"/>
                </a:lnTo>
                <a:lnTo>
                  <a:pt x="4375404" y="151597"/>
                </a:lnTo>
                <a:lnTo>
                  <a:pt x="4526280" y="133324"/>
                </a:lnTo>
                <a:lnTo>
                  <a:pt x="4677156" y="116116"/>
                </a:lnTo>
                <a:lnTo>
                  <a:pt x="4828032" y="99910"/>
                </a:lnTo>
                <a:lnTo>
                  <a:pt x="4978908" y="84647"/>
                </a:lnTo>
                <a:lnTo>
                  <a:pt x="5129784" y="70274"/>
                </a:lnTo>
                <a:lnTo>
                  <a:pt x="5280660" y="56737"/>
                </a:lnTo>
                <a:lnTo>
                  <a:pt x="5431536" y="43989"/>
                </a:lnTo>
                <a:lnTo>
                  <a:pt x="5582412" y="31983"/>
                </a:lnTo>
                <a:lnTo>
                  <a:pt x="5733288" y="20676"/>
                </a:lnTo>
                <a:lnTo>
                  <a:pt x="5884164" y="10028"/>
                </a:lnTo>
                <a:lnTo>
                  <a:pt x="6035040" y="0"/>
                </a:lnTo>
                <a:lnTo>
                  <a:pt x="6035040" y="1261872"/>
                </a:lnTo>
                <a:lnTo>
                  <a:pt x="5884164" y="1271900"/>
                </a:lnTo>
                <a:lnTo>
                  <a:pt x="5733288" y="1282548"/>
                </a:lnTo>
                <a:lnTo>
                  <a:pt x="5582412" y="1293855"/>
                </a:lnTo>
                <a:lnTo>
                  <a:pt x="5431536" y="1305861"/>
                </a:lnTo>
                <a:lnTo>
                  <a:pt x="5280660" y="1318609"/>
                </a:lnTo>
                <a:lnTo>
                  <a:pt x="5129784" y="1332146"/>
                </a:lnTo>
                <a:lnTo>
                  <a:pt x="4978908" y="1346519"/>
                </a:lnTo>
                <a:lnTo>
                  <a:pt x="4828032" y="1361782"/>
                </a:lnTo>
                <a:lnTo>
                  <a:pt x="4677156" y="1377988"/>
                </a:lnTo>
                <a:lnTo>
                  <a:pt x="4526280" y="1395196"/>
                </a:lnTo>
                <a:lnTo>
                  <a:pt x="4375404" y="1413469"/>
                </a:lnTo>
                <a:lnTo>
                  <a:pt x="4224528" y="1432871"/>
                </a:lnTo>
                <a:lnTo>
                  <a:pt x="4073652" y="1453474"/>
                </a:lnTo>
                <a:lnTo>
                  <a:pt x="3922776" y="1475350"/>
                </a:lnTo>
                <a:lnTo>
                  <a:pt x="3771900" y="1498579"/>
                </a:lnTo>
                <a:lnTo>
                  <a:pt x="3621024" y="1523244"/>
                </a:lnTo>
                <a:lnTo>
                  <a:pt x="3470148" y="1549434"/>
                </a:lnTo>
                <a:lnTo>
                  <a:pt x="3319272" y="1577244"/>
                </a:lnTo>
                <a:lnTo>
                  <a:pt x="3168396" y="1606774"/>
                </a:lnTo>
                <a:lnTo>
                  <a:pt x="3017520" y="1638130"/>
                </a:lnTo>
                <a:lnTo>
                  <a:pt x="2866644" y="1671425"/>
                </a:lnTo>
                <a:lnTo>
                  <a:pt x="2715768" y="1706778"/>
                </a:lnTo>
                <a:lnTo>
                  <a:pt x="2564892" y="1744318"/>
                </a:lnTo>
                <a:lnTo>
                  <a:pt x="2414016" y="1784179"/>
                </a:lnTo>
                <a:lnTo>
                  <a:pt x="2263140" y="1826505"/>
                </a:lnTo>
                <a:lnTo>
                  <a:pt x="2112264" y="1871448"/>
                </a:lnTo>
                <a:lnTo>
                  <a:pt x="1961388" y="1919170"/>
                </a:lnTo>
                <a:lnTo>
                  <a:pt x="1810512" y="1969843"/>
                </a:lnTo>
                <a:lnTo>
                  <a:pt x="1659636" y="2023650"/>
                </a:lnTo>
                <a:lnTo>
                  <a:pt x="1508760" y="2080784"/>
                </a:lnTo>
                <a:lnTo>
                  <a:pt x="1357884" y="2141451"/>
                </a:lnTo>
                <a:lnTo>
                  <a:pt x="1207008" y="2205869"/>
                </a:lnTo>
                <a:lnTo>
                  <a:pt x="1056132" y="2274271"/>
                </a:lnTo>
                <a:lnTo>
                  <a:pt x="905256" y="2346902"/>
                </a:lnTo>
                <a:lnTo>
                  <a:pt x="754380" y="2424025"/>
                </a:lnTo>
                <a:lnTo>
                  <a:pt x="603504" y="2505916"/>
                </a:lnTo>
                <a:lnTo>
                  <a:pt x="452628" y="2592872"/>
                </a:lnTo>
                <a:lnTo>
                  <a:pt x="301752" y="2685205"/>
                </a:lnTo>
                <a:lnTo>
                  <a:pt x="150876" y="2783247"/>
                </a:lnTo>
                <a:lnTo>
                  <a:pt x="0" y="2887352"/>
                </a:lnTo>
                <a:close/>
              </a:path>
            </a:pathLst>
          </a:custGeom>
          <a:solidFill>
            <a:srgbClr val="F7D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0149840" y="6969880"/>
            <a:ext cx="6035040" cy="1625480"/>
          </a:xfrm>
          <a:custGeom>
            <a:avLst/>
            <a:gdLst/>
            <a:ahLst/>
            <a:cxnLst/>
            <a:rect l="l" t="t" r="r" b="b"/>
            <a:pathLst>
              <a:path w="6035040" h="1625480">
                <a:moveTo>
                  <a:pt x="0" y="1625480"/>
                </a:moveTo>
                <a:lnTo>
                  <a:pt x="150876" y="1521375"/>
                </a:lnTo>
                <a:lnTo>
                  <a:pt x="301752" y="1423333"/>
                </a:lnTo>
                <a:lnTo>
                  <a:pt x="452628" y="1331000"/>
                </a:lnTo>
                <a:lnTo>
                  <a:pt x="603504" y="1244044"/>
                </a:lnTo>
                <a:lnTo>
                  <a:pt x="754380" y="1162153"/>
                </a:lnTo>
                <a:lnTo>
                  <a:pt x="905256" y="1085030"/>
                </a:lnTo>
                <a:lnTo>
                  <a:pt x="1056132" y="1012399"/>
                </a:lnTo>
                <a:lnTo>
                  <a:pt x="1207008" y="943997"/>
                </a:lnTo>
                <a:lnTo>
                  <a:pt x="1357884" y="879579"/>
                </a:lnTo>
                <a:lnTo>
                  <a:pt x="1508760" y="818912"/>
                </a:lnTo>
                <a:lnTo>
                  <a:pt x="1659636" y="761778"/>
                </a:lnTo>
                <a:lnTo>
                  <a:pt x="1810512" y="707971"/>
                </a:lnTo>
                <a:lnTo>
                  <a:pt x="1961388" y="657298"/>
                </a:lnTo>
                <a:lnTo>
                  <a:pt x="2112264" y="609576"/>
                </a:lnTo>
                <a:lnTo>
                  <a:pt x="2263140" y="564633"/>
                </a:lnTo>
                <a:lnTo>
                  <a:pt x="2414016" y="522307"/>
                </a:lnTo>
                <a:lnTo>
                  <a:pt x="2564892" y="482446"/>
                </a:lnTo>
                <a:lnTo>
                  <a:pt x="2715768" y="444906"/>
                </a:lnTo>
                <a:lnTo>
                  <a:pt x="2866644" y="409553"/>
                </a:lnTo>
                <a:lnTo>
                  <a:pt x="3017520" y="376258"/>
                </a:lnTo>
                <a:lnTo>
                  <a:pt x="3168396" y="344902"/>
                </a:lnTo>
                <a:lnTo>
                  <a:pt x="3319272" y="315372"/>
                </a:lnTo>
                <a:lnTo>
                  <a:pt x="3470148" y="287562"/>
                </a:lnTo>
                <a:lnTo>
                  <a:pt x="3621024" y="261372"/>
                </a:lnTo>
                <a:lnTo>
                  <a:pt x="3771900" y="236707"/>
                </a:lnTo>
                <a:lnTo>
                  <a:pt x="3922776" y="213478"/>
                </a:lnTo>
                <a:lnTo>
                  <a:pt x="4073652" y="191602"/>
                </a:lnTo>
                <a:lnTo>
                  <a:pt x="4224528" y="170999"/>
                </a:lnTo>
                <a:lnTo>
                  <a:pt x="4375404" y="151597"/>
                </a:lnTo>
                <a:lnTo>
                  <a:pt x="4526280" y="133324"/>
                </a:lnTo>
                <a:lnTo>
                  <a:pt x="4677156" y="116116"/>
                </a:lnTo>
                <a:lnTo>
                  <a:pt x="4828032" y="99910"/>
                </a:lnTo>
                <a:lnTo>
                  <a:pt x="4978908" y="84647"/>
                </a:lnTo>
                <a:lnTo>
                  <a:pt x="5129784" y="70274"/>
                </a:lnTo>
                <a:lnTo>
                  <a:pt x="5280660" y="56737"/>
                </a:lnTo>
                <a:lnTo>
                  <a:pt x="5431536" y="43989"/>
                </a:lnTo>
                <a:lnTo>
                  <a:pt x="5582412" y="31983"/>
                </a:lnTo>
                <a:lnTo>
                  <a:pt x="5733288" y="20676"/>
                </a:lnTo>
                <a:lnTo>
                  <a:pt x="5884164" y="10028"/>
                </a:lnTo>
                <a:lnTo>
                  <a:pt x="6035040" y="0"/>
                </a:lnTo>
              </a:path>
            </a:pathLst>
          </a:custGeom>
          <a:noFill/>
          <a:ln w="254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8979408"/>
            <a:ext cx="603504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250" i="1" b="0">
                <a:solidFill>
                  <a:srgbClr val="545454"/>
                </a:solidFill>
                <a:latin typeface="Newzald Light"/>
              </a:rPr>
              <a:t>wide credible interval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" y="8915400"/>
            <a:ext cx="162306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2000" i="0" b="0">
                <a:solidFill>
                  <a:srgbClr val="237794"/>
                </a:solidFill>
                <a:latin typeface="Newzald Bold"/>
              </a:rPr>
              <a:t>Forward simulation never tells you which is which. Every prediction looks equally confident.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One graph, two inference regimes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Cells mix fundamentally different dynamics in the same model — and no single inference method handles both.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62020" y="9620000"/>
            <a:ext cx="109728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0" b="0">
                <a:solidFill>
                  <a:srgbClr val="545454"/>
                </a:solidFill>
                <a:latin typeface="Newzald Ligh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2514600"/>
            <a:ext cx="758952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237794"/>
                </a:solidFill>
                <a:latin typeface="Newzald Bold"/>
              </a:rPr>
              <a:t>Differentiable dynamics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2907792"/>
            <a:ext cx="758952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ODE metabolism, continuous kinetics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03020" y="4892040"/>
            <a:ext cx="3017520" cy="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303020" y="3429000"/>
            <a:ext cx="0" cy="146304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97580" y="4928616"/>
            <a:ext cx="9144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1" b="0">
                <a:solidFill>
                  <a:srgbClr val="545454"/>
                </a:solidFill>
                <a:latin typeface="Newzald Light"/>
              </a:rPr>
              <a:t>t</a:t>
            </a:r>
          </a:p>
        </p:txBody>
      </p:sp>
      <p:sp>
        <p:nvSpPr>
          <p:cNvPr id="13" name="Freeform 12"/>
          <p:cNvSpPr/>
          <p:nvPr/>
        </p:nvSpPr>
        <p:spPr>
          <a:xfrm>
            <a:off x="1303020" y="3740821"/>
            <a:ext cx="3017520" cy="1151219"/>
          </a:xfrm>
          <a:custGeom>
            <a:avLst/>
            <a:gdLst/>
            <a:ahLst/>
            <a:cxnLst/>
            <a:rect l="l" t="t" r="r" b="b"/>
            <a:pathLst>
              <a:path w="3017520" h="1151219">
                <a:moveTo>
                  <a:pt x="0" y="1151219"/>
                </a:moveTo>
                <a:lnTo>
                  <a:pt x="75438" y="1072957"/>
                </a:lnTo>
                <a:lnTo>
                  <a:pt x="150876" y="999620"/>
                </a:lnTo>
                <a:lnTo>
                  <a:pt x="226314" y="930899"/>
                </a:lnTo>
                <a:lnTo>
                  <a:pt x="301752" y="866502"/>
                </a:lnTo>
                <a:lnTo>
                  <a:pt x="377190" y="806158"/>
                </a:lnTo>
                <a:lnTo>
                  <a:pt x="452628" y="749612"/>
                </a:lnTo>
                <a:lnTo>
                  <a:pt x="528066" y="696624"/>
                </a:lnTo>
                <a:lnTo>
                  <a:pt x="603504" y="646971"/>
                </a:lnTo>
                <a:lnTo>
                  <a:pt x="678942" y="600442"/>
                </a:lnTo>
                <a:lnTo>
                  <a:pt x="754380" y="556842"/>
                </a:lnTo>
                <a:lnTo>
                  <a:pt x="829818" y="515986"/>
                </a:lnTo>
                <a:lnTo>
                  <a:pt x="905256" y="477701"/>
                </a:lnTo>
                <a:lnTo>
                  <a:pt x="980694" y="441825"/>
                </a:lnTo>
                <a:lnTo>
                  <a:pt x="1056132" y="408207"/>
                </a:lnTo>
                <a:lnTo>
                  <a:pt x="1131570" y="376705"/>
                </a:lnTo>
                <a:lnTo>
                  <a:pt x="1207008" y="347185"/>
                </a:lnTo>
                <a:lnTo>
                  <a:pt x="1282446" y="319523"/>
                </a:lnTo>
                <a:lnTo>
                  <a:pt x="1357884" y="293602"/>
                </a:lnTo>
                <a:lnTo>
                  <a:pt x="1433322" y="269312"/>
                </a:lnTo>
                <a:lnTo>
                  <a:pt x="1508760" y="246551"/>
                </a:lnTo>
                <a:lnTo>
                  <a:pt x="1584198" y="225222"/>
                </a:lnTo>
                <a:lnTo>
                  <a:pt x="1659636" y="205235"/>
                </a:lnTo>
                <a:lnTo>
                  <a:pt x="1735074" y="186506"/>
                </a:lnTo>
                <a:lnTo>
                  <a:pt x="1810512" y="168956"/>
                </a:lnTo>
                <a:lnTo>
                  <a:pt x="1885950" y="152511"/>
                </a:lnTo>
                <a:lnTo>
                  <a:pt x="1961388" y="137100"/>
                </a:lnTo>
                <a:lnTo>
                  <a:pt x="2036826" y="122659"/>
                </a:lnTo>
                <a:lnTo>
                  <a:pt x="2112264" y="109127"/>
                </a:lnTo>
                <a:lnTo>
                  <a:pt x="2187702" y="96447"/>
                </a:lnTo>
                <a:lnTo>
                  <a:pt x="2263140" y="84564"/>
                </a:lnTo>
                <a:lnTo>
                  <a:pt x="2338578" y="73430"/>
                </a:lnTo>
                <a:lnTo>
                  <a:pt x="2414016" y="62996"/>
                </a:lnTo>
                <a:lnTo>
                  <a:pt x="2489454" y="53218"/>
                </a:lnTo>
                <a:lnTo>
                  <a:pt x="2564892" y="44056"/>
                </a:lnTo>
                <a:lnTo>
                  <a:pt x="2640330" y="35471"/>
                </a:lnTo>
                <a:lnTo>
                  <a:pt x="2715768" y="27426"/>
                </a:lnTo>
                <a:lnTo>
                  <a:pt x="2791206" y="19887"/>
                </a:lnTo>
                <a:lnTo>
                  <a:pt x="2866644" y="12823"/>
                </a:lnTo>
                <a:lnTo>
                  <a:pt x="2942082" y="6203"/>
                </a:lnTo>
                <a:lnTo>
                  <a:pt x="3017520" y="0"/>
                </a:lnTo>
              </a:path>
            </a:pathLst>
          </a:custGeom>
          <a:noFill/>
          <a:ln w="25400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0620" y="3474720"/>
            <a:ext cx="3657600" cy="1554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→  Gradients exist</a:t>
            </a:r>
          </a:p>
          <a:p>
            <a:pPr algn="l" marL="0" indent="0">
              <a:spcBef>
                <a:spcPts val="600"/>
              </a:spcBef>
              <a:buNone/>
            </a:pPr>
            <a:r>
              <a:rPr sz="1800" i="0" b="0">
                <a:solidFill>
                  <a:srgbClr val="237794"/>
                </a:solidFill>
                <a:latin typeface="Newzald Bold"/>
              </a:rPr>
              <a:t>→  NUTS / HMC</a:t>
            </a:r>
          </a:p>
          <a:p>
            <a:pPr algn="l" marL="0" indent="0">
              <a:spcBef>
                <a:spcPts val="6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orders of magnitude more sample-efficient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14600"/>
            <a:ext cx="758952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C1741A"/>
                </a:solidFill>
                <a:latin typeface="Newzald Bold"/>
              </a:rPr>
              <a:t>Stochastic dynamics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907792"/>
            <a:ext cx="758952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Gillespie SSA, bursty gene switching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84080" y="4892040"/>
            <a:ext cx="3017520" cy="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784080" y="3429000"/>
            <a:ext cx="0" cy="146304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978640" y="4928616"/>
            <a:ext cx="9144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1" b="0">
                <a:solidFill>
                  <a:srgbClr val="545454"/>
                </a:solidFill>
                <a:latin typeface="Newzald Light"/>
              </a:rPr>
              <a:t>t</a:t>
            </a:r>
          </a:p>
        </p:txBody>
      </p:sp>
      <p:sp>
        <p:nvSpPr>
          <p:cNvPr id="20" name="Freeform 19"/>
          <p:cNvSpPr/>
          <p:nvPr/>
        </p:nvSpPr>
        <p:spPr>
          <a:xfrm>
            <a:off x="9784080" y="3633825"/>
            <a:ext cx="3017520" cy="994867"/>
          </a:xfrm>
          <a:custGeom>
            <a:avLst/>
            <a:gdLst/>
            <a:ahLst/>
            <a:cxnLst/>
            <a:rect l="l" t="t" r="r" b="b"/>
            <a:pathLst>
              <a:path w="3017520" h="994867">
                <a:moveTo>
                  <a:pt x="0" y="994867"/>
                </a:moveTo>
                <a:lnTo>
                  <a:pt x="0" y="994867"/>
                </a:lnTo>
                <a:lnTo>
                  <a:pt x="335280" y="994867"/>
                </a:lnTo>
                <a:lnTo>
                  <a:pt x="335280" y="643738"/>
                </a:lnTo>
                <a:lnTo>
                  <a:pt x="670560" y="643738"/>
                </a:lnTo>
                <a:lnTo>
                  <a:pt x="670560" y="292608"/>
                </a:lnTo>
                <a:lnTo>
                  <a:pt x="1005840" y="292608"/>
                </a:lnTo>
                <a:lnTo>
                  <a:pt x="1005840" y="702259"/>
                </a:lnTo>
                <a:lnTo>
                  <a:pt x="1341120" y="702259"/>
                </a:lnTo>
                <a:lnTo>
                  <a:pt x="1341120" y="351130"/>
                </a:lnTo>
                <a:lnTo>
                  <a:pt x="1676400" y="351130"/>
                </a:lnTo>
                <a:lnTo>
                  <a:pt x="1676400" y="0"/>
                </a:lnTo>
                <a:lnTo>
                  <a:pt x="2011680" y="0"/>
                </a:lnTo>
                <a:lnTo>
                  <a:pt x="2011680" y="409651"/>
                </a:lnTo>
                <a:lnTo>
                  <a:pt x="2346960" y="409651"/>
                </a:lnTo>
                <a:lnTo>
                  <a:pt x="2346960" y="175565"/>
                </a:lnTo>
                <a:lnTo>
                  <a:pt x="2682240" y="175565"/>
                </a:lnTo>
                <a:lnTo>
                  <a:pt x="2682240" y="585216"/>
                </a:lnTo>
                <a:lnTo>
                  <a:pt x="3017520" y="585216"/>
                </a:lnTo>
              </a:path>
            </a:pathLst>
          </a:custGeom>
          <a:noFill/>
          <a:ln w="25400">
            <a:solidFill>
              <a:srgbClr val="C1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441680" y="3474720"/>
            <a:ext cx="3657600" cy="1554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→  No gradient path</a:t>
            </a:r>
          </a:p>
          <a:p>
            <a:pPr algn="l" marL="0" indent="0">
              <a:spcBef>
                <a:spcPts val="600"/>
              </a:spcBef>
              <a:buNone/>
            </a:pPr>
            <a:r>
              <a:rPr sz="1800" i="0" b="0">
                <a:solidFill>
                  <a:srgbClr val="C1741A"/>
                </a:solidFill>
                <a:latin typeface="Newzald Bold"/>
              </a:rPr>
              <a:t>→  SBI / ABC-SMC</a:t>
            </a:r>
          </a:p>
          <a:p>
            <a:pPr algn="l" marL="0" indent="0">
              <a:spcBef>
                <a:spcPts val="6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handles any simulator as a black box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28700" y="5577840"/>
            <a:ext cx="1623060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23760" y="5897880"/>
            <a:ext cx="3840480" cy="658368"/>
          </a:xfrm>
          <a:prstGeom prst="roundRect">
            <a:avLst>
              <a:gd name="adj" fmla="val 10000"/>
            </a:avLst>
          </a:prstGeom>
          <a:solidFill>
            <a:srgbClr val="E3F0DC"/>
          </a:solidFill>
          <a:ln w="22225">
            <a:solidFill>
              <a:srgbClr val="4A8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Observed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51660" y="7178040"/>
            <a:ext cx="6309360" cy="1234440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23779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51660" y="6848856"/>
            <a:ext cx="630936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250" i="1" b="0">
                <a:solidFill>
                  <a:srgbClr val="237794"/>
                </a:solidFill>
                <a:latin typeface="Newzald Light"/>
              </a:rPr>
              <a:t>DifferentiableBlock   ·   NUTS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17420" y="7498080"/>
            <a:ext cx="2651760" cy="594360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TX/TL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43500" y="7498080"/>
            <a:ext cx="2651760" cy="594360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Metabolism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98580" y="7178040"/>
            <a:ext cx="4937760" cy="1234440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C174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98580" y="6848856"/>
            <a:ext cx="493776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250" i="1" b="0">
                <a:solidFill>
                  <a:srgbClr val="C1741A"/>
                </a:solidFill>
                <a:latin typeface="Newzald Light"/>
              </a:rPr>
              <a:t>SimulationBlock   ·   SBI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64340" y="7498080"/>
            <a:ext cx="4206240" cy="594360"/>
          </a:xfrm>
          <a:prstGeom prst="roundRect">
            <a:avLst>
              <a:gd name="adj" fmla="val 10000"/>
            </a:avLst>
          </a:prstGeom>
          <a:solidFill>
            <a:srgbClr val="FAE7D2"/>
          </a:solidFill>
          <a:ln w="22225">
            <a:solidFill>
              <a:srgbClr val="C1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Gene expression  (SSA)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246620" y="6556248"/>
            <a:ext cx="800100" cy="621792"/>
          </a:xfrm>
          <a:prstGeom prst="line">
            <a:avLst/>
          </a:prstGeom>
          <a:ln w="25400">
            <a:solidFill>
              <a:srgbClr val="4A8F3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41280" y="6556248"/>
            <a:ext cx="2171700" cy="621792"/>
          </a:xfrm>
          <a:prstGeom prst="line">
            <a:avLst/>
          </a:prstGeom>
          <a:ln w="25400">
            <a:solidFill>
              <a:srgbClr val="4A8F3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06740" y="7790688"/>
            <a:ext cx="3246120" cy="0"/>
          </a:xfrm>
          <a:prstGeom prst="line">
            <a:avLst/>
          </a:prstGeom>
          <a:ln w="34925">
            <a:solidFill>
              <a:srgbClr val="B03A2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61020" y="7360920"/>
            <a:ext cx="33375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250" i="0" b="0">
                <a:solidFill>
                  <a:srgbClr val="B03A2E"/>
                </a:solidFill>
                <a:latin typeface="Newzald Bold"/>
              </a:rPr>
              <a:t>boundary protocol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1020" y="7973568"/>
            <a:ext cx="33375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100" i="1" b="0">
                <a:solidFill>
                  <a:srgbClr val="B03A2E"/>
                </a:solidFill>
                <a:latin typeface="Newzald Light"/>
              </a:rPr>
              <a:t>uncertainty crosses here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8732520"/>
            <a:ext cx="4389120" cy="658368"/>
          </a:xfrm>
          <a:prstGeom prst="roundRect">
            <a:avLst>
              <a:gd name="adj" fmla="val 10000"/>
            </a:avLst>
          </a:prstGeom>
          <a:solidFill>
            <a:srgbClr val="E7E0F1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p(θ | data)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246620" y="8412480"/>
            <a:ext cx="617220" cy="320040"/>
          </a:xfrm>
          <a:prstGeom prst="line">
            <a:avLst/>
          </a:prstGeom>
          <a:ln w="25400">
            <a:solidFill>
              <a:srgbClr val="6A4C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0424160" y="8412480"/>
            <a:ext cx="1988820" cy="320040"/>
          </a:xfrm>
          <a:prstGeom prst="line">
            <a:avLst/>
          </a:prstGeom>
          <a:ln w="25400">
            <a:solidFill>
              <a:srgbClr val="6A4C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A three-module test cell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Same biology modelled two ways — ODE and SSA — so the posteriors can be compared across formalisms.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62020" y="9620000"/>
            <a:ext cx="109728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0" b="0">
                <a:solidFill>
                  <a:srgbClr val="545454"/>
                </a:solidFill>
                <a:latin typeface="Newzald Light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11580" y="2880360"/>
            <a:ext cx="6949440" cy="1371600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23779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1580" y="2551176"/>
            <a:ext cx="694944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250" i="1" b="0">
                <a:solidFill>
                  <a:srgbClr val="237794"/>
                </a:solidFill>
                <a:latin typeface="Newzald Light"/>
              </a:rPr>
              <a:t>DifferentiableBlock   ·   NUTS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31620" y="320040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TX/TL  (ODE)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3460" y="320040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Metabolism  (ODE)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94860" y="3566160"/>
            <a:ext cx="182880" cy="0"/>
          </a:xfrm>
          <a:prstGeom prst="line">
            <a:avLst/>
          </a:prstGeom>
          <a:ln w="25400">
            <a:solidFill>
              <a:srgbClr val="B03A2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7500" y="5577840"/>
            <a:ext cx="3840480" cy="1371600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C174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7500" y="6967728"/>
            <a:ext cx="384048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250" i="1" b="0">
                <a:solidFill>
                  <a:srgbClr val="C1741A"/>
                </a:solidFill>
                <a:latin typeface="Newzald Light"/>
              </a:rPr>
              <a:t>SimulationBlock   ·   ABC-SMC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77540" y="589788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FAE7D2"/>
          </a:solidFill>
          <a:ln w="22225">
            <a:solidFill>
              <a:srgbClr val="C1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Gene expression  (SSA)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77740" y="4251960"/>
            <a:ext cx="0" cy="1325880"/>
          </a:xfrm>
          <a:prstGeom prst="line">
            <a:avLst/>
          </a:prstGeom>
          <a:ln w="31750">
            <a:solidFill>
              <a:srgbClr val="B03A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960620" y="4572000"/>
            <a:ext cx="329184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250" i="1" b="0">
                <a:solidFill>
                  <a:srgbClr val="B03A2E"/>
                </a:solidFill>
                <a:latin typeface="Newzald Light"/>
              </a:rPr>
              <a:t>conditioned on the</a:t>
            </a:r>
          </a:p>
          <a:p>
            <a:pPr algn="l" marL="0" indent="0">
              <a:buNone/>
            </a:pPr>
            <a:r>
              <a:rPr sz="1250" i="1" b="0">
                <a:solidFill>
                  <a:srgbClr val="B03A2E"/>
                </a:solidFill>
                <a:latin typeface="Newzald Light"/>
              </a:rPr>
              <a:t>shared parameters</a:t>
            </a:r>
          </a:p>
          <a:p>
            <a:pPr algn="l" marL="0" indent="0">
              <a:buNone/>
            </a:pPr>
            <a:r>
              <a:rPr sz="1250" i="1" b="0">
                <a:solidFill>
                  <a:srgbClr val="B03A2E"/>
                </a:solidFill>
                <a:latin typeface="Newzald Light"/>
              </a:rPr>
              <a:t>k_tx, k_tl, γ_mRNA, γ_prot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7360920"/>
            <a:ext cx="7589520" cy="21031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≈9 unique parameters after deduplication, every one with a prior.</a:t>
            </a:r>
          </a:p>
          <a:p>
            <a:pPr algn="l" marL="219456" indent="-219456">
              <a:lnSpc>
                <a:spcPct val="118000"/>
              </a:lnSpc>
              <a:spcBef>
                <a:spcPts val="6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Validated on synthetic data, where the ground truth is known.</a:t>
            </a:r>
          </a:p>
          <a:p>
            <a:pPr algn="l" marL="219456" indent="-219456">
              <a:lnSpc>
                <a:spcPct val="118000"/>
              </a:lnSpc>
              <a:spcBef>
                <a:spcPts val="6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What this computes is a cut posterior — an approximation to the joint.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The framework spans cut → message passing → joint NUTS as the oracle. The gap between them is itself a result.</a:t>
            </a:r>
          </a:p>
        </p:txBody>
      </p:sp>
      <p:pic>
        <p:nvPicPr>
          <p:cNvPr id="19" name="Picture 18" descr="step3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502" y="2286000"/>
            <a:ext cx="6230756" cy="63093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0" y="8686800"/>
            <a:ext cx="73152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Joint posterior over the differentiable block. Ground truth recovered on every parameter.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Where we are, honestly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62020" y="9620000"/>
            <a:ext cx="109728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0" b="0">
                <a:solidFill>
                  <a:srgbClr val="545454"/>
                </a:solidFill>
                <a:latin typeface="Newzald Light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331720"/>
            <a:ext cx="758952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237794"/>
                </a:solidFill>
                <a:latin typeface="Newzald Bold"/>
              </a:rPr>
              <a:t>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2788920"/>
            <a:ext cx="7589520" cy="21031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TX/TL and metabolism as ODE modules, inferred jointly with NUTS.</a:t>
            </a:r>
          </a:p>
          <a:p>
            <a:pPr algn="l" marL="219456" indent="-219456">
              <a:lnSpc>
                <a:spcPct val="118000"/>
              </a:lnSpc>
              <a:spcBef>
                <a:spcPts val="6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A bursty SSA module inferred with ABC-SMC.</a:t>
            </a:r>
          </a:p>
          <a:p>
            <a:pPr algn="l" marL="219456" indent="-219456">
              <a:lnSpc>
                <a:spcPct val="118000"/>
              </a:lnSpc>
              <a:spcBef>
                <a:spcPts val="6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Parameter-posterior handoff across the block boundary. 270 tests passing.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5029200"/>
            <a:ext cx="758952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B03A2E"/>
                </a:solidFill>
                <a:latin typeface="Newzald Bold"/>
              </a:rPr>
              <a:t>Found — and this is the useful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5486400"/>
            <a:ext cx="7589520" cy="21945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The iterative boundary protocol is systematically over-confident: at a nominal 95% interval it covers the truth on 35 – 70% of seeds.</a:t>
            </a:r>
          </a:p>
          <a:p>
            <a:pPr algn="l" marL="219456" indent="-219456">
              <a:lnSpc>
                <a:spcPct val="118000"/>
              </a:lnSpc>
              <a:spcBef>
                <a:spcPts val="6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It costs ~4× the compute and no seed converged. The narrower intervals were the bug, not the result.</a:t>
            </a:r>
          </a:p>
          <a:p>
            <a:pPr algn="l" marL="219456" indent="-219456">
              <a:lnSpc>
                <a:spcPct val="118000"/>
              </a:lnSpc>
              <a:spcBef>
                <a:spcPts val="6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Single-pass conditioning is honestly calibrated, and is now the default.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7909560"/>
            <a:ext cx="758952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Bold"/>
              </a:rPr>
              <a:t>Claiming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8366760"/>
            <a:ext cx="758952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v0.0.1 is a modular inference prototype on synthetic data — a methods contribution, not yet a biological one.</a:t>
            </a:r>
          </a:p>
        </p:txBody>
      </p:sp>
      <p:pic>
        <p:nvPicPr>
          <p:cNvPr id="13" name="Picture 12" descr="step4_calibr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336944"/>
            <a:ext cx="7406640" cy="37502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92640" y="7543800"/>
            <a:ext cx="740664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Coverage against nominal level, 20 seeds. Single-pass tracks the diagonal; the iterative protocol sits far below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Where this is going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62020" y="9620000"/>
            <a:ext cx="109728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0" b="0">
                <a:solidFill>
                  <a:srgbClr val="545454"/>
                </a:solidFill>
                <a:latin typeface="Newzald Light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2377440"/>
            <a:ext cx="7772400" cy="2286000"/>
          </a:xfrm>
          <a:prstGeom prst="roundRect">
            <a:avLst>
              <a:gd name="adj" fmla="val 6000"/>
            </a:avLst>
          </a:prstGeom>
          <a:solidFill>
            <a:srgbClr val="237794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2000" i="0" b="0">
                <a:solidFill>
                  <a:srgbClr val="FFFFFF"/>
                </a:solidFill>
                <a:latin typeface="Newzald Bold"/>
              </a:rPr>
              <a:t>Put calibrated error bars on a</a:t>
            </a:r>
          </a:p>
          <a:p>
            <a:pPr algn="ctr" marL="0" indent="0">
              <a:buNone/>
            </a:pPr>
            <a:r>
              <a:rPr sz="2000" i="0" b="0">
                <a:solidFill>
                  <a:srgbClr val="FFFFFF"/>
                </a:solidFill>
                <a:latin typeface="Newzald Bold"/>
              </a:rPr>
              <a:t>well-mixed reduction of the Luthey-Schulten /</a:t>
            </a:r>
          </a:p>
          <a:p>
            <a:pPr algn="ctr" marL="0" indent="0">
              <a:buNone/>
            </a:pPr>
            <a:r>
              <a:rPr sz="2000" i="0" b="0">
                <a:solidFill>
                  <a:srgbClr val="FFFFFF"/>
                </a:solidFill>
                <a:latin typeface="Newzald Bold"/>
              </a:rPr>
              <a:t>Thornburg syn3A minimal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5029200"/>
            <a:ext cx="7772400" cy="40233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Their simulator becomes our ground-truth generator.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≈1000 literature parameters are a known injection; their outputs are data we can condition on and try to recover.</a:t>
            </a:r>
          </a:p>
          <a:p>
            <a:pPr algn="l" marL="219456" indent="-219456">
              <a:lnSpc>
                <a:spcPct val="118000"/>
              </a:lnSpc>
              <a:spcBef>
                <a:spcPts val="12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Their parameter set is the comparison baseline.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“We put error bars on the Luthey-Schulten minimal cell” is a one-line contribution.</a:t>
            </a:r>
          </a:p>
          <a:p>
            <a:pPr algn="l" marL="219456" indent="-219456">
              <a:lnSpc>
                <a:spcPct val="118000"/>
              </a:lnSpc>
              <a:spcBef>
                <a:spcPts val="12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Complementary to MC4D, not competing.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That architecture structurally cannot do UQ. Ours is built for nothing else.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2377440"/>
            <a:ext cx="740664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Sequencing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2971800"/>
            <a:ext cx="1554480" cy="658368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v0.0.1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2953512"/>
            <a:ext cx="5577840" cy="1554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800" i="0" b="0">
                <a:solidFill>
                  <a:srgbClr val="101010"/>
                </a:solidFill>
                <a:latin typeface="Newzald Bold"/>
              </a:rPr>
              <a:t>methods contribution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synthetic twins; one honest boundary protocol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69880" y="3685032"/>
            <a:ext cx="0" cy="1243584"/>
          </a:xfrm>
          <a:prstGeom prst="line">
            <a:avLst/>
          </a:prstGeom>
          <a:ln w="25400">
            <a:solidFill>
              <a:srgbClr val="D9D9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92640" y="4983480"/>
            <a:ext cx="1554480" cy="658368"/>
          </a:xfrm>
          <a:prstGeom prst="roundRect">
            <a:avLst>
              <a:gd name="adj" fmla="val 10000"/>
            </a:avLst>
          </a:prstGeom>
          <a:solidFill>
            <a:srgbClr val="FAE7D2"/>
          </a:solidFill>
          <a:ln w="22225">
            <a:solidFill>
              <a:srgbClr val="C1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v0.0.x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4965192"/>
            <a:ext cx="5577840" cy="1554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800" i="0" b="0">
                <a:solidFill>
                  <a:srgbClr val="101010"/>
                </a:solidFill>
                <a:latin typeface="Newzald Bold"/>
              </a:rPr>
              <a:t>close the machinery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hybrid ODE-SSA graph, trajectory boundary, neural likelihood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469880" y="5696712"/>
            <a:ext cx="0" cy="1243584"/>
          </a:xfrm>
          <a:prstGeom prst="line">
            <a:avLst/>
          </a:prstGeom>
          <a:ln w="25400">
            <a:solidFill>
              <a:srgbClr val="D9D9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92640" y="6995160"/>
            <a:ext cx="1554480" cy="658368"/>
          </a:xfrm>
          <a:prstGeom prst="roundRect">
            <a:avLst>
              <a:gd name="adj" fmla="val 10000"/>
            </a:avLst>
          </a:prstGeom>
          <a:solidFill>
            <a:srgbClr val="E7E0F1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v0.1+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976872"/>
            <a:ext cx="5577840" cy="1554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800" i="0" b="0">
                <a:solidFill>
                  <a:srgbClr val="101010"/>
                </a:solidFill>
                <a:latin typeface="Newzald Bold"/>
              </a:rPr>
              <a:t>scientific instrument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real syn3A data; UQ over the well-mixed minimal cell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What we'd like your advice 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The four questions where an outside view would change what we do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62020" y="9620000"/>
            <a:ext cx="109728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0" b="0">
                <a:solidFill>
                  <a:srgbClr val="545454"/>
                </a:solidFill>
                <a:latin typeface="Newzald Light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2788920"/>
            <a:ext cx="7589520" cy="2148840"/>
          </a:xfrm>
          <a:prstGeom prst="roundRect">
            <a:avLst>
              <a:gd name="adj" fmla="val 5000"/>
            </a:avLst>
          </a:prstGeom>
          <a:solidFill>
            <a:srgbClr val="EDF4F7"/>
          </a:solidFill>
          <a:ln w="1587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0180" y="3108960"/>
            <a:ext cx="82296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800" i="0" b="0">
                <a:solidFill>
                  <a:srgbClr val="237794"/>
                </a:solidFill>
                <a:latin typeface="National 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8860" y="3136392"/>
            <a:ext cx="5943600" cy="1554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112000"/>
              </a:lnSpc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Is the north star the right target?</a:t>
            </a:r>
          </a:p>
          <a:p>
            <a:pPr algn="l" marL="0" indent="0">
              <a:lnSpc>
                <a:spcPct val="112000"/>
              </a:lnSpc>
              <a:spcBef>
                <a:spcPts val="600"/>
              </a:spcBef>
              <a:buNone/>
            </a:pPr>
            <a:r>
              <a:rPr sz="1500" i="0" b="0">
                <a:solidFill>
                  <a:srgbClr val="545454"/>
                </a:solidFill>
                <a:latin typeface="Newzald Light"/>
              </a:rPr>
              <a:t>Or would putting error bars on a different system be more valuable to the field?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2788920"/>
            <a:ext cx="7589520" cy="2148840"/>
          </a:xfrm>
          <a:prstGeom prst="roundRect">
            <a:avLst>
              <a:gd name="adj" fmla="val 5000"/>
            </a:avLst>
          </a:prstGeom>
          <a:solidFill>
            <a:srgbClr val="EDF4F7"/>
          </a:solidFill>
          <a:ln w="1587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3108960"/>
            <a:ext cx="82296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800" i="0" b="0">
                <a:solidFill>
                  <a:srgbClr val="237794"/>
                </a:solidFill>
                <a:latin typeface="National 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3136392"/>
            <a:ext cx="5943600" cy="1554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112000"/>
              </a:lnSpc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How long should we stay on synthetic data?</a:t>
            </a:r>
          </a:p>
          <a:p>
            <a:pPr algn="l" marL="0" indent="0">
              <a:lnSpc>
                <a:spcPct val="112000"/>
              </a:lnSpc>
              <a:spcBef>
                <a:spcPts val="600"/>
              </a:spcBef>
              <a:buNone/>
            </a:pPr>
            <a:r>
              <a:rPr sz="1500" i="0" b="0">
                <a:solidFill>
                  <a:srgbClr val="545454"/>
                </a:solidFill>
                <a:latin typeface="Newzald Light"/>
              </a:rPr>
              <a:t>When do we commit to real syn3A datasets — and which ones would you point us to?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" y="5577840"/>
            <a:ext cx="7589520" cy="2148840"/>
          </a:xfrm>
          <a:prstGeom prst="roundRect">
            <a:avLst>
              <a:gd name="adj" fmla="val 5000"/>
            </a:avLst>
          </a:prstGeom>
          <a:solidFill>
            <a:srgbClr val="EDF4F7"/>
          </a:solidFill>
          <a:ln w="1587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0180" y="5897880"/>
            <a:ext cx="82296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800" i="0" b="0">
                <a:solidFill>
                  <a:srgbClr val="237794"/>
                </a:solidFill>
                <a:latin typeface="National 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8860" y="5925312"/>
            <a:ext cx="5943600" cy="1554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112000"/>
              </a:lnSpc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Who should we design for?</a:t>
            </a:r>
          </a:p>
          <a:p>
            <a:pPr algn="l" marL="0" indent="0">
              <a:lnSpc>
                <a:spcPct val="112000"/>
              </a:lnSpc>
              <a:spcBef>
                <a:spcPts val="600"/>
              </a:spcBef>
              <a:buNone/>
            </a:pPr>
            <a:r>
              <a:rPr sz="1500" i="0" b="0">
                <a:solidFill>
                  <a:srgbClr val="545454"/>
                </a:solidFill>
                <a:latin typeface="Newzald Light"/>
              </a:rPr>
              <a:t>Experimentalists choosing what to measure, whole-cell modellers, or inference-methods researchers?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5577840"/>
            <a:ext cx="7589520" cy="2148840"/>
          </a:xfrm>
          <a:prstGeom prst="roundRect">
            <a:avLst>
              <a:gd name="adj" fmla="val 5000"/>
            </a:avLst>
          </a:prstGeom>
          <a:solidFill>
            <a:srgbClr val="EDF4F7"/>
          </a:solidFill>
          <a:ln w="1587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5897880"/>
            <a:ext cx="82296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800" i="0" b="0">
                <a:solidFill>
                  <a:srgbClr val="237794"/>
                </a:solidFill>
                <a:latin typeface="National 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5925312"/>
            <a:ext cx="5943600" cy="1554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112000"/>
              </a:lnSpc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Is the Luthey-Schulten lab the collaboration to pursue?</a:t>
            </a:r>
          </a:p>
          <a:p>
            <a:pPr algn="l" marL="0" indent="0">
              <a:lnSpc>
                <a:spcPct val="112000"/>
              </a:lnSpc>
              <a:spcBef>
                <a:spcPts val="600"/>
              </a:spcBef>
              <a:buNone/>
            </a:pPr>
            <a:r>
              <a:rPr sz="1500" i="0" b="0">
                <a:solidFill>
                  <a:srgbClr val="545454"/>
                </a:solidFill>
                <a:latin typeface="Newzald Light"/>
              </a:rPr>
              <a:t>Or is there a better route into this community?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8732520"/>
            <a:ext cx="162306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2000" i="0" b="0">
                <a:solidFill>
                  <a:srgbClr val="237794"/>
                </a:solidFill>
                <a:latin typeface="Newzald Bold"/>
              </a:rPr>
              <a:t>github.com/MACSYS-CoE/InferCell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Bayesian inference in one slide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Given noisy mRNA measurements, what is the transcription rate k_tx?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468880"/>
            <a:ext cx="502920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Prior   p(θ)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2907792"/>
            <a:ext cx="50292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what we believe before seeing 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03020" y="5943600"/>
            <a:ext cx="4206240" cy="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303020" y="3566160"/>
            <a:ext cx="0" cy="237744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686300" y="5980176"/>
            <a:ext cx="9144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1" b="0">
                <a:solidFill>
                  <a:srgbClr val="545454"/>
                </a:solidFill>
                <a:latin typeface="Newzald Light"/>
              </a:rPr>
              <a:t>θ</a:t>
            </a:r>
          </a:p>
        </p:txBody>
      </p:sp>
      <p:sp>
        <p:nvSpPr>
          <p:cNvPr id="12" name="Freeform 11"/>
          <p:cNvSpPr/>
          <p:nvPr/>
        </p:nvSpPr>
        <p:spPr>
          <a:xfrm>
            <a:off x="1303020" y="4945075"/>
            <a:ext cx="4206240" cy="998525"/>
          </a:xfrm>
          <a:custGeom>
            <a:avLst/>
            <a:gdLst/>
            <a:ahLst/>
            <a:cxnLst/>
            <a:rect l="l" t="t" r="r" b="b"/>
            <a:pathLst>
              <a:path w="4206240" h="998525">
                <a:moveTo>
                  <a:pt x="0" y="795791"/>
                </a:moveTo>
                <a:lnTo>
                  <a:pt x="87630" y="767624"/>
                </a:lnTo>
                <a:lnTo>
                  <a:pt x="175260" y="736994"/>
                </a:lnTo>
                <a:lnTo>
                  <a:pt x="262890" y="703937"/>
                </a:lnTo>
                <a:lnTo>
                  <a:pt x="350520" y="668534"/>
                </a:lnTo>
                <a:lnTo>
                  <a:pt x="438150" y="630916"/>
                </a:lnTo>
                <a:lnTo>
                  <a:pt x="525780" y="591271"/>
                </a:lnTo>
                <a:lnTo>
                  <a:pt x="613410" y="549841"/>
                </a:lnTo>
                <a:lnTo>
                  <a:pt x="701040" y="506926"/>
                </a:lnTo>
                <a:lnTo>
                  <a:pt x="788670" y="462880"/>
                </a:lnTo>
                <a:lnTo>
                  <a:pt x="876300" y="418109"/>
                </a:lnTo>
                <a:lnTo>
                  <a:pt x="963930" y="373068"/>
                </a:lnTo>
                <a:lnTo>
                  <a:pt x="1051560" y="328254"/>
                </a:lnTo>
                <a:lnTo>
                  <a:pt x="1139190" y="284193"/>
                </a:lnTo>
                <a:lnTo>
                  <a:pt x="1226820" y="241439"/>
                </a:lnTo>
                <a:lnTo>
                  <a:pt x="1314450" y="200557"/>
                </a:lnTo>
                <a:lnTo>
                  <a:pt x="1402080" y="162110"/>
                </a:lnTo>
                <a:lnTo>
                  <a:pt x="1489710" y="126650"/>
                </a:lnTo>
                <a:lnTo>
                  <a:pt x="1577340" y="94705"/>
                </a:lnTo>
                <a:lnTo>
                  <a:pt x="1664970" y="66762"/>
                </a:lnTo>
                <a:lnTo>
                  <a:pt x="1752600" y="43258"/>
                </a:lnTo>
                <a:lnTo>
                  <a:pt x="1840230" y="24568"/>
                </a:lnTo>
                <a:lnTo>
                  <a:pt x="1927860" y="10995"/>
                </a:lnTo>
                <a:lnTo>
                  <a:pt x="2015490" y="2760"/>
                </a:lnTo>
                <a:lnTo>
                  <a:pt x="2103120" y="0"/>
                </a:lnTo>
                <a:lnTo>
                  <a:pt x="2190750" y="2760"/>
                </a:lnTo>
                <a:lnTo>
                  <a:pt x="2278380" y="10995"/>
                </a:lnTo>
                <a:lnTo>
                  <a:pt x="2366010" y="24568"/>
                </a:lnTo>
                <a:lnTo>
                  <a:pt x="2453640" y="43258"/>
                </a:lnTo>
                <a:lnTo>
                  <a:pt x="2541270" y="66762"/>
                </a:lnTo>
                <a:lnTo>
                  <a:pt x="2628900" y="94705"/>
                </a:lnTo>
                <a:lnTo>
                  <a:pt x="2716530" y="126650"/>
                </a:lnTo>
                <a:lnTo>
                  <a:pt x="2804160" y="162110"/>
                </a:lnTo>
                <a:lnTo>
                  <a:pt x="2891790" y="200557"/>
                </a:lnTo>
                <a:lnTo>
                  <a:pt x="2979420" y="241439"/>
                </a:lnTo>
                <a:lnTo>
                  <a:pt x="3067050" y="284193"/>
                </a:lnTo>
                <a:lnTo>
                  <a:pt x="3154680" y="328254"/>
                </a:lnTo>
                <a:lnTo>
                  <a:pt x="3242310" y="373068"/>
                </a:lnTo>
                <a:lnTo>
                  <a:pt x="3329940" y="418109"/>
                </a:lnTo>
                <a:lnTo>
                  <a:pt x="3417570" y="462880"/>
                </a:lnTo>
                <a:lnTo>
                  <a:pt x="3505200" y="506926"/>
                </a:lnTo>
                <a:lnTo>
                  <a:pt x="3592830" y="549841"/>
                </a:lnTo>
                <a:lnTo>
                  <a:pt x="3680460" y="591271"/>
                </a:lnTo>
                <a:lnTo>
                  <a:pt x="3768090" y="630916"/>
                </a:lnTo>
                <a:lnTo>
                  <a:pt x="3855720" y="668534"/>
                </a:lnTo>
                <a:lnTo>
                  <a:pt x="3943350" y="703937"/>
                </a:lnTo>
                <a:lnTo>
                  <a:pt x="4030980" y="736994"/>
                </a:lnTo>
                <a:lnTo>
                  <a:pt x="4118610" y="767624"/>
                </a:lnTo>
                <a:lnTo>
                  <a:pt x="4206240" y="795791"/>
                </a:lnTo>
                <a:lnTo>
                  <a:pt x="4206240" y="998525"/>
                </a:lnTo>
                <a:lnTo>
                  <a:pt x="0" y="998525"/>
                </a:lnTo>
                <a:close/>
              </a:path>
            </a:pathLst>
          </a:cu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700" y="6263640"/>
            <a:ext cx="50292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broad — many values plausible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6460" y="4480560"/>
            <a:ext cx="73152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2600" i="0" b="0">
                <a:solidFill>
                  <a:srgbClr val="545454"/>
                </a:solidFill>
                <a:latin typeface="Newzald Light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2468880"/>
            <a:ext cx="502920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Data   p(data | 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2907792"/>
            <a:ext cx="50292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what the experiment says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89420" y="5943600"/>
            <a:ext cx="4206240" cy="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789420" y="3566160"/>
            <a:ext cx="0" cy="237744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72700" y="5980176"/>
            <a:ext cx="9144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1" b="0">
                <a:solidFill>
                  <a:srgbClr val="545454"/>
                </a:solidFill>
                <a:latin typeface="Newzald Light"/>
              </a:rPr>
              <a:t>θ</a:t>
            </a:r>
          </a:p>
        </p:txBody>
      </p:sp>
      <p:sp>
        <p:nvSpPr>
          <p:cNvPr id="20" name="Freeform 19"/>
          <p:cNvSpPr/>
          <p:nvPr/>
        </p:nvSpPr>
        <p:spPr>
          <a:xfrm>
            <a:off x="6789420" y="3804607"/>
            <a:ext cx="4206240" cy="2138993"/>
          </a:xfrm>
          <a:custGeom>
            <a:avLst/>
            <a:gdLst/>
            <a:ahLst/>
            <a:cxnLst/>
            <a:rect l="l" t="t" r="r" b="b"/>
            <a:pathLst>
              <a:path w="4206240" h="2138993">
                <a:moveTo>
                  <a:pt x="0" y="2127410"/>
                </a:moveTo>
                <a:lnTo>
                  <a:pt x="87630" y="2119802"/>
                </a:lnTo>
                <a:lnTo>
                  <a:pt x="175260" y="2108004"/>
                </a:lnTo>
                <a:lnTo>
                  <a:pt x="262890" y="2090220"/>
                </a:lnTo>
                <a:lnTo>
                  <a:pt x="350520" y="2064176"/>
                </a:lnTo>
                <a:lnTo>
                  <a:pt x="438150" y="2027136"/>
                </a:lnTo>
                <a:lnTo>
                  <a:pt x="525780" y="1975998"/>
                </a:lnTo>
                <a:lnTo>
                  <a:pt x="613410" y="1907503"/>
                </a:lnTo>
                <a:lnTo>
                  <a:pt x="701040" y="1818561"/>
                </a:lnTo>
                <a:lnTo>
                  <a:pt x="788670" y="1706692"/>
                </a:lnTo>
                <a:lnTo>
                  <a:pt x="876300" y="1570554"/>
                </a:lnTo>
                <a:lnTo>
                  <a:pt x="963930" y="1410496"/>
                </a:lnTo>
                <a:lnTo>
                  <a:pt x="1051560" y="1229043"/>
                </a:lnTo>
                <a:lnTo>
                  <a:pt x="1139190" y="1031211"/>
                </a:lnTo>
                <a:lnTo>
                  <a:pt x="1226820" y="824564"/>
                </a:lnTo>
                <a:lnTo>
                  <a:pt x="1314450" y="618913"/>
                </a:lnTo>
                <a:lnTo>
                  <a:pt x="1402080" y="425658"/>
                </a:lnTo>
                <a:lnTo>
                  <a:pt x="1489710" y="256799"/>
                </a:lnTo>
                <a:lnTo>
                  <a:pt x="1577340" y="123724"/>
                </a:lnTo>
                <a:lnTo>
                  <a:pt x="1664970" y="35951"/>
                </a:lnTo>
                <a:lnTo>
                  <a:pt x="1752600" y="0"/>
                </a:lnTo>
                <a:lnTo>
                  <a:pt x="1840230" y="18596"/>
                </a:lnTo>
                <a:lnTo>
                  <a:pt x="1927860" y="90326"/>
                </a:lnTo>
                <a:lnTo>
                  <a:pt x="2015490" y="209817"/>
                </a:lnTo>
                <a:lnTo>
                  <a:pt x="2103120" y="368399"/>
                </a:lnTo>
                <a:lnTo>
                  <a:pt x="2190750" y="555149"/>
                </a:lnTo>
                <a:lnTo>
                  <a:pt x="2278380" y="758125"/>
                </a:lnTo>
                <a:lnTo>
                  <a:pt x="2366010" y="965614"/>
                </a:lnTo>
                <a:lnTo>
                  <a:pt x="2453640" y="1167206"/>
                </a:lnTo>
                <a:lnTo>
                  <a:pt x="2541270" y="1354571"/>
                </a:lnTo>
                <a:lnTo>
                  <a:pt x="2628900" y="1521865"/>
                </a:lnTo>
                <a:lnTo>
                  <a:pt x="2716530" y="1665790"/>
                </a:lnTo>
                <a:lnTo>
                  <a:pt x="2804160" y="1785350"/>
                </a:lnTo>
                <a:lnTo>
                  <a:pt x="2891790" y="1881402"/>
                </a:lnTo>
                <a:lnTo>
                  <a:pt x="2979420" y="1956123"/>
                </a:lnTo>
                <a:lnTo>
                  <a:pt x="3067050" y="2012461"/>
                </a:lnTo>
                <a:lnTo>
                  <a:pt x="3154680" y="2053663"/>
                </a:lnTo>
                <a:lnTo>
                  <a:pt x="3242310" y="2082907"/>
                </a:lnTo>
                <a:lnTo>
                  <a:pt x="3329940" y="2103063"/>
                </a:lnTo>
                <a:lnTo>
                  <a:pt x="3417570" y="2116559"/>
                </a:lnTo>
                <a:lnTo>
                  <a:pt x="3505200" y="2125341"/>
                </a:lnTo>
                <a:lnTo>
                  <a:pt x="3592830" y="2130896"/>
                </a:lnTo>
                <a:lnTo>
                  <a:pt x="3680460" y="2134312"/>
                </a:lnTo>
                <a:lnTo>
                  <a:pt x="3768090" y="2136355"/>
                </a:lnTo>
                <a:lnTo>
                  <a:pt x="3855720" y="2137544"/>
                </a:lnTo>
                <a:lnTo>
                  <a:pt x="3943350" y="2138217"/>
                </a:lnTo>
                <a:lnTo>
                  <a:pt x="4030980" y="2138588"/>
                </a:lnTo>
                <a:lnTo>
                  <a:pt x="4118610" y="2138787"/>
                </a:lnTo>
                <a:lnTo>
                  <a:pt x="4206240" y="2138891"/>
                </a:lnTo>
                <a:lnTo>
                  <a:pt x="4206240" y="2138993"/>
                </a:lnTo>
                <a:lnTo>
                  <a:pt x="0" y="2138993"/>
                </a:lnTo>
                <a:close/>
              </a:path>
            </a:pathLst>
          </a:custGeom>
          <a:solidFill>
            <a:srgbClr val="E3F0DC"/>
          </a:solidFill>
          <a:ln w="22225">
            <a:solidFill>
              <a:srgbClr val="4A8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5100" y="6263640"/>
            <a:ext cx="50292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noisy observations of the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52860" y="4480560"/>
            <a:ext cx="73152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2600" i="0" b="0">
                <a:solidFill>
                  <a:srgbClr val="545454"/>
                </a:solidFill>
                <a:latin typeface="Newzald Light"/>
              </a:rPr>
              <a:t>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1500" y="2468880"/>
            <a:ext cx="502920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Posterior   p(θ | data)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01500" y="2907792"/>
            <a:ext cx="50292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what we believe after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275820" y="5943600"/>
            <a:ext cx="4206240" cy="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2275820" y="3566160"/>
            <a:ext cx="0" cy="2377440"/>
          </a:xfrm>
          <a:prstGeom prst="line">
            <a:avLst/>
          </a:prstGeom>
          <a:ln w="15875">
            <a:solidFill>
              <a:srgbClr val="545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5659100" y="5980176"/>
            <a:ext cx="9144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100" i="1" b="0">
                <a:solidFill>
                  <a:srgbClr val="545454"/>
                </a:solidFill>
                <a:latin typeface="Newzald Light"/>
              </a:rPr>
              <a:t>θ</a:t>
            </a:r>
          </a:p>
        </p:txBody>
      </p:sp>
      <p:sp>
        <p:nvSpPr>
          <p:cNvPr id="28" name="Freeform 27"/>
          <p:cNvSpPr/>
          <p:nvPr/>
        </p:nvSpPr>
        <p:spPr>
          <a:xfrm>
            <a:off x="12275820" y="3685345"/>
            <a:ext cx="4206240" cy="2258255"/>
          </a:xfrm>
          <a:custGeom>
            <a:avLst/>
            <a:gdLst/>
            <a:ahLst/>
            <a:cxnLst/>
            <a:rect l="l" t="t" r="r" b="b"/>
            <a:pathLst>
              <a:path w="4206240" h="2258255">
                <a:moveTo>
                  <a:pt x="0" y="2258197"/>
                </a:moveTo>
                <a:lnTo>
                  <a:pt x="87630" y="2258108"/>
                </a:lnTo>
                <a:lnTo>
                  <a:pt x="175260" y="2257897"/>
                </a:lnTo>
                <a:lnTo>
                  <a:pt x="262890" y="2257417"/>
                </a:lnTo>
                <a:lnTo>
                  <a:pt x="350520" y="2256380"/>
                </a:lnTo>
                <a:lnTo>
                  <a:pt x="438150" y="2254233"/>
                </a:lnTo>
                <a:lnTo>
                  <a:pt x="525780" y="2249996"/>
                </a:lnTo>
                <a:lnTo>
                  <a:pt x="613410" y="2242015"/>
                </a:lnTo>
                <a:lnTo>
                  <a:pt x="701040" y="2227677"/>
                </a:lnTo>
                <a:lnTo>
                  <a:pt x="788670" y="2203126"/>
                </a:lnTo>
                <a:lnTo>
                  <a:pt x="876300" y="2163083"/>
                </a:lnTo>
                <a:lnTo>
                  <a:pt x="963930" y="2100934"/>
                </a:lnTo>
                <a:lnTo>
                  <a:pt x="1051560" y="2009246"/>
                </a:lnTo>
                <a:lnTo>
                  <a:pt x="1139190" y="1880862"/>
                </a:lnTo>
                <a:lnTo>
                  <a:pt x="1226820" y="1710580"/>
                </a:lnTo>
                <a:lnTo>
                  <a:pt x="1314450" y="1497224"/>
                </a:lnTo>
                <a:lnTo>
                  <a:pt x="1402080" y="1245667"/>
                </a:lnTo>
                <a:lnTo>
                  <a:pt x="1489710" y="968185"/>
                </a:lnTo>
                <a:lnTo>
                  <a:pt x="1577340" y="684474"/>
                </a:lnTo>
                <a:lnTo>
                  <a:pt x="1664970" y="419915"/>
                </a:lnTo>
                <a:lnTo>
                  <a:pt x="1752600" y="202091"/>
                </a:lnTo>
                <a:lnTo>
                  <a:pt x="1840230" y="56139"/>
                </a:lnTo>
                <a:lnTo>
                  <a:pt x="1927860" y="0"/>
                </a:lnTo>
                <a:lnTo>
                  <a:pt x="2015490" y="40793"/>
                </a:lnTo>
                <a:lnTo>
                  <a:pt x="2103120" y="173333"/>
                </a:lnTo>
                <a:lnTo>
                  <a:pt x="2190750" y="381214"/>
                </a:lnTo>
                <a:lnTo>
                  <a:pt x="2278380" y="640145"/>
                </a:lnTo>
                <a:lnTo>
                  <a:pt x="2366010" y="922604"/>
                </a:lnTo>
                <a:lnTo>
                  <a:pt x="2453640" y="1202585"/>
                </a:lnTo>
                <a:lnTo>
                  <a:pt x="2541270" y="1459315"/>
                </a:lnTo>
                <a:lnTo>
                  <a:pt x="2628900" y="1679293"/>
                </a:lnTo>
                <a:lnTo>
                  <a:pt x="2716530" y="1856523"/>
                </a:lnTo>
                <a:lnTo>
                  <a:pt x="2804160" y="1991339"/>
                </a:lnTo>
                <a:lnTo>
                  <a:pt x="2891790" y="2088446"/>
                </a:lnTo>
                <a:lnTo>
                  <a:pt x="2979420" y="2154812"/>
                </a:lnTo>
                <a:lnTo>
                  <a:pt x="3067050" y="2197917"/>
                </a:lnTo>
                <a:lnTo>
                  <a:pt x="3154680" y="2224555"/>
                </a:lnTo>
                <a:lnTo>
                  <a:pt x="3242310" y="2240232"/>
                </a:lnTo>
                <a:lnTo>
                  <a:pt x="3329940" y="2249026"/>
                </a:lnTo>
                <a:lnTo>
                  <a:pt x="3417570" y="2253729"/>
                </a:lnTo>
                <a:lnTo>
                  <a:pt x="3505200" y="2256130"/>
                </a:lnTo>
                <a:lnTo>
                  <a:pt x="3592830" y="2257299"/>
                </a:lnTo>
                <a:lnTo>
                  <a:pt x="3680460" y="2257843"/>
                </a:lnTo>
                <a:lnTo>
                  <a:pt x="3768090" y="2258085"/>
                </a:lnTo>
                <a:lnTo>
                  <a:pt x="3855720" y="2258188"/>
                </a:lnTo>
                <a:lnTo>
                  <a:pt x="3943350" y="2258229"/>
                </a:lnTo>
                <a:lnTo>
                  <a:pt x="4030980" y="2258245"/>
                </a:lnTo>
                <a:lnTo>
                  <a:pt x="4118610" y="2258251"/>
                </a:lnTo>
                <a:lnTo>
                  <a:pt x="4206240" y="2258253"/>
                </a:lnTo>
                <a:lnTo>
                  <a:pt x="4206240" y="2258255"/>
                </a:lnTo>
                <a:lnTo>
                  <a:pt x="0" y="2258255"/>
                </a:lnTo>
                <a:close/>
              </a:path>
            </a:pathLst>
          </a:custGeom>
          <a:solidFill>
            <a:srgbClr val="E7E0F1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01500" y="6263640"/>
            <a:ext cx="50292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tight — the data has constrained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" y="7223760"/>
            <a:ext cx="1623060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2600" i="0" b="0">
                <a:solidFill>
                  <a:srgbClr val="237794"/>
                </a:solidFill>
                <a:latin typeface="Newzald Bold"/>
              </a:rPr>
              <a:t>p(θ | data)  ∝  p(data | θ) · p(θ)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" y="8046720"/>
            <a:ext cx="1623060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800" i="0" b="0">
                <a:solidFill>
                  <a:srgbClr val="545454"/>
                </a:solidFill>
                <a:latin typeface="Newzald Light"/>
              </a:rPr>
              <a:t>The posterior is the output. Credible intervals, identifiability and model comparison all follow from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Why not just run it a thousand times?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The natural response: perturb the parameters, run an ensemble, read off a spread. Two reasons that doesn't close the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697480"/>
            <a:ext cx="758952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1.  An ensemble is not a posterior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246120"/>
            <a:ext cx="7589520" cy="3200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Without a likelihood you cannot condition on observed data.</a:t>
            </a:r>
          </a:p>
          <a:p>
            <a:pPr algn="l" marL="219456" indent="-219456">
              <a:lnSpc>
                <a:spcPct val="118000"/>
              </a:lnSpc>
              <a:spcBef>
                <a:spcPts val="8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You cannot weight parameter combinations by how plausible they are.</a:t>
            </a:r>
          </a:p>
          <a:p>
            <a:pPr algn="l" marL="219456" indent="-219456">
              <a:lnSpc>
                <a:spcPct val="118000"/>
              </a:lnSpc>
              <a:spcBef>
                <a:spcPts val="8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You cannot compare models, compute Bayes factors, or update beliefs.</a:t>
            </a:r>
          </a:p>
          <a:p>
            <a:pPr algn="l" marL="219456" indent="-219456">
              <a:lnSpc>
                <a:spcPct val="118000"/>
              </a:lnSpc>
              <a:spcBef>
                <a:spcPts val="8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You cannot ask about identifiability or expected information 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6675120"/>
            <a:ext cx="758952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118000"/>
              </a:lnSpc>
              <a:buNone/>
            </a:pPr>
            <a:r>
              <a:rPr sz="1800" i="0" b="0">
                <a:solidFill>
                  <a:srgbClr val="237794"/>
                </a:solidFill>
                <a:latin typeface="Newzald Bold"/>
              </a:rPr>
              <a:t>A spread of point predictions is not a probability distribution.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697480"/>
            <a:ext cx="758952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2.  Each run is expensive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3246120"/>
            <a:ext cx="7589520" cy="2011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MC4D: ≈300 GPU-hours per replicate.</a:t>
            </a:r>
          </a:p>
          <a:p>
            <a:pPr algn="l" marL="219456" indent="-219456">
              <a:lnSpc>
                <a:spcPct val="118000"/>
              </a:lnSpc>
              <a:spcBef>
                <a:spcPts val="8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A 1000-run ensemble: ≈3 × 10⁵ GPU-hours.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5212080"/>
            <a:ext cx="758952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And even with a likelihood, the architecture could not evaluate it efficiently: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5806440"/>
            <a:ext cx="7589520" cy="21945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No gradient path — so no HMC, no automatic differentiation.</a:t>
            </a:r>
          </a:p>
          <a:p>
            <a:pPr algn="l" marL="219456" indent="-219456">
              <a:lnSpc>
                <a:spcPct val="118000"/>
              </a:lnSpc>
              <a:spcBef>
                <a:spcPts val="8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Re-encoding of data at every module boundary.</a:t>
            </a:r>
          </a:p>
          <a:p>
            <a:pPr algn="l" marL="219456" indent="-219456">
              <a:lnSpc>
                <a:spcPct val="118000"/>
              </a:lnSpc>
              <a:spcBef>
                <a:spcPts val="8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No substrate a surrogate could slot into.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8915400"/>
            <a:ext cx="162306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2000" i="0" b="0">
                <a:solidFill>
                  <a:srgbClr val="237794"/>
                </a:solidFill>
                <a:latin typeface="Newzald Bold"/>
              </a:rPr>
              <a:t>Two separate gaps: probability, and substrate.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Conditioning the whole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The same contrast on one slide: what is done now, and what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286000"/>
            <a:ext cx="749808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D9D9D9"/>
                </a:solidFill>
                <a:latin typeface="Newzald Bold"/>
              </a:rPr>
              <a:t>Standard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8740" y="283464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Fit A</a:t>
            </a:r>
          </a:p>
          <a:p>
            <a:pPr algn="ctr" marL="0" indent="0">
              <a:buNone/>
            </a:pPr>
            <a:r>
              <a:rPr sz="1100" i="1" b="0">
                <a:solidFill>
                  <a:srgbClr val="101010"/>
                </a:solidFill>
                <a:latin typeface="Newzald Light"/>
              </a:rPr>
              <a:t>isolated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51660" y="397764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θ̂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00300" y="3474720"/>
            <a:ext cx="0" cy="502920"/>
          </a:xfrm>
          <a:prstGeom prst="line">
            <a:avLst/>
          </a:prstGeom>
          <a:ln w="25400">
            <a:solidFill>
              <a:srgbClr val="D9D9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00300" y="4526280"/>
            <a:ext cx="1307592" cy="685800"/>
          </a:xfrm>
          <a:prstGeom prst="line">
            <a:avLst/>
          </a:prstGeom>
          <a:ln w="25400">
            <a:solidFill>
              <a:srgbClr val="D9D9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26180" y="283464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Fit B</a:t>
            </a:r>
          </a:p>
          <a:p>
            <a:pPr algn="ctr" marL="0" indent="0">
              <a:buNone/>
            </a:pPr>
            <a:r>
              <a:rPr sz="1100" i="1" b="0">
                <a:solidFill>
                  <a:srgbClr val="101010"/>
                </a:solidFill>
                <a:latin typeface="Newzald Light"/>
              </a:rPr>
              <a:t>isolated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9100" y="397764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θ̂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77740" y="3474720"/>
            <a:ext cx="0" cy="502920"/>
          </a:xfrm>
          <a:prstGeom prst="line">
            <a:avLst/>
          </a:prstGeom>
          <a:ln w="25400">
            <a:solidFill>
              <a:srgbClr val="D9D9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77740" y="4526280"/>
            <a:ext cx="0" cy="685800"/>
          </a:xfrm>
          <a:prstGeom prst="line">
            <a:avLst/>
          </a:prstGeom>
          <a:ln w="25400">
            <a:solidFill>
              <a:srgbClr val="D9D9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03620" y="2834640"/>
            <a:ext cx="2103120" cy="64008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Fit C</a:t>
            </a:r>
          </a:p>
          <a:p>
            <a:pPr algn="ctr" marL="0" indent="0">
              <a:buNone/>
            </a:pPr>
            <a:r>
              <a:rPr sz="1100" i="1" b="0">
                <a:solidFill>
                  <a:srgbClr val="101010"/>
                </a:solidFill>
                <a:latin typeface="Newzald Light"/>
              </a:rPr>
              <a:t>isolated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06540" y="397764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θ̂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55180" y="3474720"/>
            <a:ext cx="0" cy="502920"/>
          </a:xfrm>
          <a:prstGeom prst="line">
            <a:avLst/>
          </a:prstGeom>
          <a:ln w="25400">
            <a:solidFill>
              <a:srgbClr val="D9D9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847588" y="4526280"/>
            <a:ext cx="1307592" cy="685800"/>
          </a:xfrm>
          <a:prstGeom prst="line">
            <a:avLst/>
          </a:prstGeom>
          <a:ln w="25400">
            <a:solidFill>
              <a:srgbClr val="D9D9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394460" y="5212080"/>
            <a:ext cx="6766560" cy="68580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Whole-cell model  (forward simulation)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94460" y="6400800"/>
            <a:ext cx="6766560" cy="68580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Prediction  (no uncertainty)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77740" y="5897880"/>
            <a:ext cx="0" cy="502920"/>
          </a:xfrm>
          <a:prstGeom prst="line">
            <a:avLst/>
          </a:prstGeom>
          <a:ln w="25400">
            <a:solidFill>
              <a:srgbClr val="D9D9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94460" y="7406640"/>
            <a:ext cx="676656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500" i="0" b="0">
                <a:solidFill>
                  <a:srgbClr val="B03A2E"/>
                </a:solidFill>
                <a:latin typeface="Newzald Light"/>
              </a:rPr>
              <a:t>✕   uncertainty discarded at every step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sz="1500" i="0" b="0">
                <a:solidFill>
                  <a:srgbClr val="B03A2E"/>
                </a:solidFill>
                <a:latin typeface="Newzald Light"/>
              </a:rPr>
              <a:t>✕   coupling invisible during fitting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0" y="2286000"/>
            <a:ext cx="0" cy="6492240"/>
          </a:xfrm>
          <a:prstGeom prst="line">
            <a:avLst/>
          </a:prstGeom>
          <a:ln w="1587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326880" y="2286000"/>
            <a:ext cx="749808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InferCell approach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2834640"/>
            <a:ext cx="6766560" cy="640080"/>
          </a:xfrm>
          <a:prstGeom prst="roundRect">
            <a:avLst>
              <a:gd name="adj" fmla="val 10000"/>
            </a:avLst>
          </a:prstGeom>
          <a:solidFill>
            <a:srgbClr val="E3F0DC"/>
          </a:solidFill>
          <a:ln w="22225">
            <a:solidFill>
              <a:srgbClr val="4A8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All observed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4114800"/>
            <a:ext cx="7132320" cy="1371600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23779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4160520"/>
            <a:ext cx="27432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1" b="0">
                <a:solidFill>
                  <a:srgbClr val="545454"/>
                </a:solidFill>
                <a:latin typeface="Newzald Light"/>
              </a:rPr>
              <a:t>coupled model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4709160"/>
            <a:ext cx="2011680" cy="594360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TX/TL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709160"/>
            <a:ext cx="2011680" cy="594360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Metabolism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795760" y="5001768"/>
            <a:ext cx="2011680" cy="0"/>
          </a:xfrm>
          <a:prstGeom prst="line">
            <a:avLst/>
          </a:prstGeom>
          <a:ln w="25400">
            <a:solidFill>
              <a:srgbClr val="B03A2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4264640" y="4709160"/>
            <a:ext cx="2011680" cy="594360"/>
          </a:xfrm>
          <a:prstGeom prst="roundRect">
            <a:avLst>
              <a:gd name="adj" fmla="val 10000"/>
            </a:avLst>
          </a:prstGeom>
          <a:solidFill>
            <a:srgbClr val="FAE7D2"/>
          </a:solidFill>
          <a:ln w="22225">
            <a:solidFill>
              <a:srgbClr val="C1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Gene expr.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036040" y="5001768"/>
            <a:ext cx="2011680" cy="0"/>
          </a:xfrm>
          <a:prstGeom prst="line">
            <a:avLst/>
          </a:prstGeom>
          <a:ln w="25400">
            <a:solidFill>
              <a:srgbClr val="B03A2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3075920" y="3474720"/>
            <a:ext cx="0" cy="640080"/>
          </a:xfrm>
          <a:prstGeom prst="line">
            <a:avLst/>
          </a:prstGeom>
          <a:ln w="25400">
            <a:solidFill>
              <a:srgbClr val="4A8F3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692640" y="6126480"/>
            <a:ext cx="6766560" cy="685800"/>
          </a:xfrm>
          <a:prstGeom prst="roundRect">
            <a:avLst>
              <a:gd name="adj" fmla="val 10000"/>
            </a:avLst>
          </a:prstGeom>
          <a:solidFill>
            <a:srgbClr val="E7E0F1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Joint posterior  p(θ | data)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075920" y="5486400"/>
            <a:ext cx="0" cy="640080"/>
          </a:xfrm>
          <a:prstGeom prst="line">
            <a:avLst/>
          </a:prstGeom>
          <a:ln w="25400">
            <a:solidFill>
              <a:srgbClr val="6A4C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692640" y="7315200"/>
            <a:ext cx="6766560" cy="685800"/>
          </a:xfrm>
          <a:prstGeom prst="roundRect">
            <a:avLst>
              <a:gd name="adj" fmla="val 10000"/>
            </a:avLst>
          </a:prstGeom>
          <a:solidFill>
            <a:srgbClr val="E7E0F1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Prediction with credible intervals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3075920" y="6812280"/>
            <a:ext cx="0" cy="502920"/>
          </a:xfrm>
          <a:prstGeom prst="line">
            <a:avLst/>
          </a:prstGeom>
          <a:ln w="25400">
            <a:solidFill>
              <a:srgbClr val="6A4C9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692640" y="8229600"/>
            <a:ext cx="676656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500" i="0" b="0">
                <a:solidFill>
                  <a:srgbClr val="4A8F38"/>
                </a:solidFill>
                <a:latin typeface="Newzald Light"/>
              </a:rPr>
              <a:t>✓   uncertainty propagated throughout</a:t>
            </a:r>
          </a:p>
          <a:p>
            <a:pPr algn="l" marL="0" indent="0">
              <a:spcBef>
                <a:spcPts val="400"/>
              </a:spcBef>
              <a:buNone/>
            </a:pPr>
            <a:r>
              <a:rPr sz="1500" i="0" b="0">
                <a:solidFill>
                  <a:srgbClr val="4A8F38"/>
                </a:solidFill>
                <a:latin typeface="Newzald Light"/>
              </a:rPr>
              <a:t>✓   coupling visible during inference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How much inferential coupling do you need?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Joint inference over every parameter is intractable at scale; isolated fits discard all coupling. The framework spans the middle.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65860" y="2926080"/>
            <a:ext cx="4754880" cy="777240"/>
          </a:xfrm>
          <a:prstGeom prst="roundRect">
            <a:avLst>
              <a:gd name="adj" fmla="val 10000"/>
            </a:avLst>
          </a:prstGeom>
          <a:solidFill>
            <a:srgbClr val="E3F0DC"/>
          </a:solidFill>
          <a:ln w="22225">
            <a:solidFill>
              <a:srgbClr val="4A8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Level 1 — Cut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5860" y="3977640"/>
            <a:ext cx="475488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Downstream sees upstream uncertainty; no feedback.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" y="5212080"/>
            <a:ext cx="4754880" cy="12801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Implemented. Honestly calibrated. The default.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5100" y="2926080"/>
            <a:ext cx="4754880" cy="777240"/>
          </a:xfrm>
          <a:prstGeom prst="roundRect">
            <a:avLst>
              <a:gd name="adj" fmla="val 10000"/>
            </a:avLst>
          </a:prstGeom>
          <a:solidFill>
            <a:srgbClr val="FAE7D2"/>
          </a:solidFill>
          <a:ln w="22225">
            <a:solidFill>
              <a:srgbClr val="C1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Level 2 — Message 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3977640"/>
            <a:ext cx="475488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Information flows both ways; approximate.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5212080"/>
            <a:ext cx="4754880" cy="12801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Implemented, and found over-confident. Experimental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64340" y="2926080"/>
            <a:ext cx="4754880" cy="777240"/>
          </a:xfrm>
          <a:prstGeom prst="roundRect">
            <a:avLst>
              <a:gd name="adj" fmla="val 10000"/>
            </a:avLst>
          </a:prstGeom>
          <a:solidFill>
            <a:srgbClr val="F7DEDA"/>
          </a:solidFill>
          <a:ln w="2222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Level 3 — Particle MCMC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64340" y="3977640"/>
            <a:ext cx="475488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Asymptotically correct; never tractable at whole-cell scale.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64340" y="5212080"/>
            <a:ext cx="4754880" cy="12801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Ruled out. Joint NUTS on small problems is the oracle instead.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94460" y="6949440"/>
            <a:ext cx="15499080" cy="0"/>
          </a:xfrm>
          <a:prstGeom prst="line">
            <a:avLst/>
          </a:prstGeom>
          <a:ln w="31750">
            <a:solidFill>
              <a:srgbClr val="D9D9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8700" y="7132320"/>
            <a:ext cx="45720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isolated 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87300" y="7132320"/>
            <a:ext cx="45720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full joint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7132320"/>
            <a:ext cx="54864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accuracy and cost 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7955280"/>
            <a:ext cx="1623060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800" i="0" b="0">
                <a:solidFill>
                  <a:srgbClr val="237794"/>
                </a:solidFill>
                <a:latin typeface="Newzald Bold"/>
              </a:rPr>
              <a:t>Diagnostic: does the posterior change when you allow feedback? If not, the cut was sufficient.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Where machine learning fits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One decision rule settles it: a likelihood composes into the graph, and a posterior does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697480"/>
            <a:ext cx="758952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The ML object is a neural likelihood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246120"/>
            <a:ext cx="7589520" cy="47548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A learned, differentiable p(x | θ) for the stochastic block.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Replaces ABC-SMC and makes the boundary message differentiable in both directions.</a:t>
            </a:r>
          </a:p>
          <a:p>
            <a:pPr algn="l" marL="219456" indent="-219456">
              <a:lnSpc>
                <a:spcPct val="118000"/>
              </a:lnSpc>
              <a:spcBef>
                <a:spcPts val="12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Governed by a ladder, not a default.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Start at the synthetic-likelihood end — a conditional Gaussian or mixture-density network over summaries. Upgrade to a normalising flow only if that fails.</a:t>
            </a:r>
          </a:p>
          <a:p>
            <a:pPr algn="l" marL="219456" indent="-219456">
              <a:lnSpc>
                <a:spcPct val="118000"/>
              </a:lnSpc>
              <a:spcBef>
                <a:spcPts val="12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Why not an amortised posterior (NPE)?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A posterior has a prior baked in, so you cannot multiply it against the other modules' contributions.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697480"/>
            <a:ext cx="758952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Surrogates are an architectural lever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3291840"/>
            <a:ext cx="3657600" cy="685800"/>
          </a:xfrm>
          <a:prstGeom prst="roundRect">
            <a:avLst>
              <a:gd name="adj" fmla="val 10000"/>
            </a:avLst>
          </a:prstGeom>
          <a:solidFill>
            <a:srgbClr val="FAE7D2"/>
          </a:solidFill>
          <a:ln w="22225">
            <a:solidFill>
              <a:srgbClr val="C1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SSA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0" y="3401568"/>
            <a:ext cx="31089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250" i="1" b="0">
                <a:solidFill>
                  <a:srgbClr val="545454"/>
                </a:solidFill>
                <a:latin typeface="Newzald Light"/>
              </a:rPr>
              <a:t>SimulationBlock  ·  SBI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795760" y="3977640"/>
            <a:ext cx="0" cy="1051560"/>
          </a:xfrm>
          <a:prstGeom prst="line">
            <a:avLst/>
          </a:prstGeom>
          <a:ln w="31750">
            <a:solidFill>
              <a:srgbClr val="23779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978640" y="4206240"/>
            <a:ext cx="4572000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250" i="1" b="0">
                <a:solidFill>
                  <a:srgbClr val="545454"/>
                </a:solidFill>
                <a:latin typeface="Newzald Light"/>
              </a:rPr>
              <a:t>train a surrogate offline</a:t>
            </a:r>
          </a:p>
          <a:p>
            <a:pPr algn="l" marL="0" indent="0">
              <a:buNone/>
            </a:pPr>
            <a:r>
              <a:rPr sz="1250" i="1" b="0">
                <a:solidFill>
                  <a:srgbClr val="545454"/>
                </a:solidFill>
                <a:latin typeface="Newzald Light"/>
              </a:rPr>
              <a:t>on (θ, y) pairs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5029200"/>
            <a:ext cx="3657600" cy="685800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Neural surrogate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0" y="5138928"/>
            <a:ext cx="31089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250" i="1" b="0">
                <a:solidFill>
                  <a:srgbClr val="545454"/>
                </a:solidFill>
                <a:latin typeface="Newzald Light"/>
              </a:rPr>
              <a:t>DifferentiableBlock  ·  NUTS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080760"/>
            <a:ext cx="7589520" cy="23774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The catch: it must share the AD substrate.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A PyTorch surrogate plus a Julia model is still a polyglot stack, and gradients die at the language boundary.</a:t>
            </a:r>
          </a:p>
          <a:p>
            <a:pPr algn="l" marL="219456" indent="-219456">
              <a:lnSpc>
                <a:spcPct val="118000"/>
              </a:lnSpc>
              <a:spcBef>
                <a:spcPts val="10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Rejected: neural ODEs as black-box biology.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They survive only as a v0.1+ discrepancy term. Fourier neural operators are parked as a spatial-emulator bet.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Why one language?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Standard whole-cell models are polyglot stacks, glued by 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651760"/>
            <a:ext cx="7315200" cy="3657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Python + C++ + CUDA + LAMMPS, coordinated by a Python hook script.</a:t>
            </a:r>
          </a:p>
          <a:p>
            <a:pPr algn="l" marL="219456" indent="-219456">
              <a:lnSpc>
                <a:spcPct val="118000"/>
              </a:lnSpc>
              <a:spcBef>
                <a:spcPts val="1200"/>
              </a:spcBef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Every module boundary re-encodes data.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File IO, language bindings, GPU→CPU copies — rather than passing a pointer.</a:t>
            </a:r>
          </a:p>
          <a:p>
            <a:pPr algn="l" marL="219456" indent="-219456">
              <a:lnSpc>
                <a:spcPct val="118000"/>
              </a:lnSpc>
              <a:spcBef>
                <a:spcPts val="1200"/>
              </a:spcBef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Gradients do not compose across a language boundary.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No AD path means no HMC, no adjoint sensitivities, no Fisher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" y="6766560"/>
            <a:ext cx="7315200" cy="1005840"/>
          </a:xfrm>
          <a:prstGeom prst="roundRect">
            <a:avLst>
              <a:gd name="adj" fmla="val 10000"/>
            </a:avLst>
          </a:prstGeom>
          <a:solidFill>
            <a:srgbClr val="237794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2000" i="0" b="0">
                <a:solidFill>
                  <a:srgbClr val="FFFFFF"/>
                </a:solidFill>
                <a:latin typeface="Newzald Bold"/>
              </a:rPr>
              <a:t>InferCell: one Julia stack, one compiled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8046720"/>
            <a:ext cx="7315200" cy="12801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This is the argument for one language. The next slide is the honest comparison against the obvious alternative.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0" y="466344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7DEDA"/>
          </a:solidFill>
          <a:ln w="22225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hook.py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46888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RDME</a:t>
            </a:r>
          </a:p>
          <a:p>
            <a:pPr algn="ctr" marL="0" indent="0">
              <a:buNone/>
            </a:pPr>
            <a:r>
              <a:rPr sz="1250" i="1" b="0">
                <a:solidFill>
                  <a:srgbClr val="101010"/>
                </a:solidFill>
                <a:latin typeface="Newzald Light"/>
              </a:rPr>
              <a:t>CUDA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10980115" y="3540557"/>
            <a:ext cx="987552" cy="658368"/>
          </a:xfrm>
          <a:prstGeom prst="line">
            <a:avLst/>
          </a:prstGeom>
          <a:ln w="22225">
            <a:solidFill>
              <a:srgbClr val="B03A2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442448" y="3622853"/>
            <a:ext cx="21945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100" i="1" b="0">
                <a:solidFill>
                  <a:srgbClr val="B03A2E"/>
                </a:solidFill>
                <a:latin typeface="Newzald Light"/>
              </a:rPr>
              <a:t>GPU → CPU copy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41880" y="246888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ODE metabolism</a:t>
            </a:r>
          </a:p>
          <a:p>
            <a:pPr algn="ctr" marL="0" indent="0">
              <a:buNone/>
            </a:pPr>
            <a:r>
              <a:rPr sz="1250" i="1" b="0">
                <a:solidFill>
                  <a:srgbClr val="101010"/>
                </a:solidFill>
                <a:latin typeface="Newzald Light"/>
              </a:rPr>
              <a:t>Python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4732813" y="3540557"/>
            <a:ext cx="987552" cy="658368"/>
          </a:xfrm>
          <a:prstGeom prst="line">
            <a:avLst/>
          </a:prstGeom>
          <a:ln w="22225">
            <a:solidFill>
              <a:srgbClr val="B03A2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063472" y="3622853"/>
            <a:ext cx="21945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100" i="1" b="0">
                <a:solidFill>
                  <a:srgbClr val="B03A2E"/>
                </a:solidFill>
                <a:latin typeface="Newzald Light"/>
              </a:rPr>
              <a:t>in-process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685800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CME</a:t>
            </a:r>
          </a:p>
          <a:p>
            <a:pPr algn="ctr" marL="0" indent="0">
              <a:buNone/>
            </a:pPr>
            <a:r>
              <a:rPr sz="1250" i="1" b="0">
                <a:solidFill>
                  <a:srgbClr val="101010"/>
                </a:solidFill>
                <a:latin typeface="Newzald Light"/>
              </a:rPr>
              <a:t>lm  (C++)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0980115" y="6042355"/>
            <a:ext cx="987552" cy="658368"/>
          </a:xfrm>
          <a:prstGeom prst="line">
            <a:avLst/>
          </a:prstGeom>
          <a:ln w="22225">
            <a:solidFill>
              <a:srgbClr val="B03A2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42448" y="6344107"/>
            <a:ext cx="21945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100" i="1" b="0">
                <a:solidFill>
                  <a:srgbClr val="B03A2E"/>
                </a:solidFill>
                <a:latin typeface="Newzald Light"/>
              </a:rPr>
              <a:t>library bindings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041880" y="685800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Brownian dynamics</a:t>
            </a:r>
          </a:p>
          <a:p>
            <a:pPr algn="ctr" marL="0" indent="0">
              <a:buNone/>
            </a:pPr>
            <a:r>
              <a:rPr sz="1250" i="1" b="0">
                <a:solidFill>
                  <a:srgbClr val="101010"/>
                </a:solidFill>
                <a:latin typeface="Newzald Light"/>
              </a:rPr>
              <a:t>LAMMPS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732813" y="6042355"/>
            <a:ext cx="987552" cy="658368"/>
          </a:xfrm>
          <a:prstGeom prst="line">
            <a:avLst/>
          </a:prstGeom>
          <a:ln w="22225">
            <a:solidFill>
              <a:srgbClr val="B03A2E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4063472" y="6344107"/>
            <a:ext cx="21945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100" i="1" b="0">
                <a:solidFill>
                  <a:srgbClr val="B03A2E"/>
                </a:solidFill>
                <a:latin typeface="Newzald Light"/>
              </a:rPr>
              <a:t>subprocess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Why Julia, and not JAX?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The honest version: Julia wins on composability, and loses on ecosystem.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697480"/>
            <a:ext cx="758952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237794"/>
                </a:solidFill>
                <a:latin typeface="Newzald Bold"/>
              </a:rPr>
              <a:t>Julia wins on composability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246120"/>
            <a:ext cx="7589520" cy="4206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DifferentialEquations, Turing, SciMLSensitivity and Catalyst share one type system — AD flows end to end with no language boundary.</a:t>
            </a:r>
          </a:p>
          <a:p>
            <a:pPr algn="l" marL="219456" indent="-219456">
              <a:lnSpc>
                <a:spcPct val="118000"/>
              </a:lnSpc>
              <a:spcBef>
                <a:spcPts val="12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Multiple dispatch makes the sub-model interface natural: the declared formalism dispatches to the right solver and the right inference backend.</a:t>
            </a:r>
          </a:p>
          <a:p>
            <a:pPr algn="l" marL="219456" indent="-219456">
              <a:lnSpc>
                <a:spcPct val="118000"/>
              </a:lnSpc>
              <a:spcBef>
                <a:spcPts val="12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Catalyst.jl gives a reaction-network DSL with no JAX equivalent — which matters if we ever infer structure, not just rates.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697480"/>
            <a:ext cx="758952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C1741A"/>
                </a:solidFill>
                <a:latin typeface="Newzald Bold"/>
              </a:rPr>
              <a:t>JAX is ahead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3246120"/>
            <a:ext cx="7589520" cy="4206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Simulation-based inference tooling. Python's sbi library is more mature: neural density estimators, normalising flows.</a:t>
            </a:r>
          </a:p>
          <a:p>
            <a:pPr algn="l" marL="219456" indent="-219456">
              <a:lnSpc>
                <a:spcPct val="118000"/>
              </a:lnSpc>
              <a:spcBef>
                <a:spcPts val="12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GPU at scale. XLA compilation and vmap/pmap over samples give a smoother path past 100 parameters.</a:t>
            </a:r>
          </a:p>
          <a:p>
            <a:pPr algn="l" marL="219456" indent="-219456">
              <a:lnSpc>
                <a:spcPct val="118000"/>
              </a:lnSpc>
              <a:spcBef>
                <a:spcPts val="12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ML integration. Neural surrogates and amortised inference live in PyTorch and JAX.</a:t>
            </a:r>
          </a:p>
          <a:p>
            <a:pPr algn="l" marL="219456" indent="-219456">
              <a:lnSpc>
                <a:spcPct val="118000"/>
              </a:lnSpc>
              <a:spcBef>
                <a:spcPts val="12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Contributors. A far larger pool in computational biology.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" y="7818120"/>
            <a:ext cx="16230600" cy="1051560"/>
          </a:xfrm>
          <a:prstGeom prst="roundRect">
            <a:avLst>
              <a:gd name="adj" fmla="val 4000"/>
            </a:avLst>
          </a:prstGeom>
          <a:solidFill>
            <a:srgbClr val="237794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800" i="0" b="0">
                <a:solidFill>
                  <a:srgbClr val="FFFFFF"/>
                </a:solidFill>
                <a:latin typeface="Newzald Bold"/>
              </a:rPr>
              <a:t>The bet: through v0.0.x the contribution is the architecture, not the scale, and Julia expresses it most directly.</a:t>
            </a:r>
          </a:p>
          <a:p>
            <a:pPr algn="ctr" marL="0" indent="0">
              <a:buNone/>
            </a:pPr>
            <a:r>
              <a:rPr sz="1800" i="0" b="0">
                <a:solidFill>
                  <a:srgbClr val="FFFFFF"/>
                </a:solidFill>
                <a:latin typeface="Newzald Bold"/>
              </a:rPr>
              <a:t>The risk to watch: if neural SBI or heavy GPU batching becomes critical, the ecosystem gap will bite.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What a single compiled runtime buys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Engineering consequences of the one-language 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651760"/>
            <a:ext cx="7589520" cy="5486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End-to-end gradients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AD through solvers, models and inference — HMC/NUTS, Bayesian experimental design, Fisher information.</a:t>
            </a:r>
          </a:p>
          <a:p>
            <a:pPr algn="l" marL="219456" indent="-219456">
              <a:lnSpc>
                <a:spcPct val="118000"/>
              </a:lnSpc>
              <a:spcBef>
                <a:spcPts val="1800"/>
              </a:spcBef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Hybrid inference in one pipeline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NUTS and simulation-based inference in the same graph, with no inter-language plumbing.</a:t>
            </a:r>
          </a:p>
          <a:p>
            <a:pPr algn="l" marL="219456" indent="-219456">
              <a:lnSpc>
                <a:spcPct val="118000"/>
              </a:lnSpc>
              <a:spcBef>
                <a:spcPts val="1800"/>
              </a:spcBef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Composability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Swap ODE ↔ SSA, drop in an ML surrogate, without touching the inference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2651760"/>
            <a:ext cx="7589520" cy="5486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One program, one type system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One IR, one GPU pipeline, one dependency stack.</a:t>
            </a:r>
          </a:p>
          <a:p>
            <a:pPr algn="l" marL="219456" indent="-219456">
              <a:lnSpc>
                <a:spcPct val="118000"/>
              </a:lnSpc>
              <a:spcBef>
                <a:spcPts val="1800"/>
              </a:spcBef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Uniform diagnostics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One logger, one profiler, stack traces that cross the whole model.</a:t>
            </a:r>
          </a:p>
          <a:p>
            <a:pPr algn="l" marL="219456" indent="-219456">
              <a:lnSpc>
                <a:spcPct val="118000"/>
              </a:lnSpc>
              <a:spcBef>
                <a:spcPts val="1800"/>
              </a:spcBef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Cheap prototyping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Add a module without committing to another language's ecosystem.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Does it scale?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Nine parameters today. A whole-cell model needs ~1000. This is the honest gap, and the answer is partly a bet.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697480"/>
            <a:ext cx="758952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The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246120"/>
            <a:ext cx="7589520" cy="42062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Every NUTS leapfrog step solves the full ODE system.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Order 10⁴ solves per chain.</a:t>
            </a:r>
          </a:p>
          <a:p>
            <a:pPr algn="l" marL="219456" indent="-219456">
              <a:lnSpc>
                <a:spcPct val="118000"/>
              </a:lnSpc>
              <a:spcBef>
                <a:spcPts val="12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Gradient cost currently grows linearly in parameter count.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ForwardDiffSensitivity is O(n_params) per gradient — fine at 5, questionable at 30.</a:t>
            </a:r>
          </a:p>
          <a:p>
            <a:pPr algn="l" marL="219456" indent="-219456">
              <a:lnSpc>
                <a:spcPct val="118000"/>
              </a:lnSpc>
              <a:spcBef>
                <a:spcPts val="12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Adjoint methods are the switch.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InterpolatingAdjoint / BacksolveAdjoint from SciMLSensitivity. Needs benchmarking at 5, 10, 20, 30 parameters before we commit.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697480"/>
            <a:ext cx="758952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What one runtime gives 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3291840"/>
            <a:ext cx="6675120" cy="640080"/>
          </a:xfrm>
          <a:prstGeom prst="roundRect">
            <a:avLst>
              <a:gd name="adj" fmla="val 10000"/>
            </a:avLst>
          </a:prstGeom>
          <a:solidFill>
            <a:srgbClr val="D7E7EE"/>
          </a:solidFill>
          <a:ln w="22225">
            <a:solidFill>
              <a:srgbClr val="237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InferCell  —  sub-models and priors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0" y="4160520"/>
            <a:ext cx="6675120" cy="640080"/>
          </a:xfrm>
          <a:prstGeom prst="roundRect">
            <a:avLst>
              <a:gd name="adj" fmla="val 10000"/>
            </a:avLst>
          </a:prstGeom>
          <a:solidFill>
            <a:srgbClr val="E3F0DC"/>
          </a:solidFill>
          <a:ln w="22225">
            <a:solidFill>
              <a:srgbClr val="4A8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Turing.jl  —  NUTS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304520" y="3931920"/>
            <a:ext cx="0" cy="228600"/>
          </a:xfrm>
          <a:prstGeom prst="line">
            <a:avLst/>
          </a:prstGeom>
          <a:ln w="19050">
            <a:solidFill>
              <a:srgbClr val="D9D9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966960" y="5029200"/>
            <a:ext cx="6675120" cy="640080"/>
          </a:xfrm>
          <a:prstGeom prst="roundRect">
            <a:avLst>
              <a:gd name="adj" fmla="val 10000"/>
            </a:avLst>
          </a:prstGeom>
          <a:solidFill>
            <a:srgbClr val="FAE7D2"/>
          </a:solidFill>
          <a:ln w="22225">
            <a:solidFill>
              <a:srgbClr val="C17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SciMLSensitivity.jl  —  AD through solvers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304520" y="4800600"/>
            <a:ext cx="0" cy="228600"/>
          </a:xfrm>
          <a:prstGeom prst="line">
            <a:avLst/>
          </a:prstGeom>
          <a:ln w="19050">
            <a:solidFill>
              <a:srgbClr val="D9D9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66960" y="5897880"/>
            <a:ext cx="6675120" cy="640080"/>
          </a:xfrm>
          <a:prstGeom prst="roundRect">
            <a:avLst>
              <a:gd name="adj" fmla="val 10000"/>
            </a:avLst>
          </a:prstGeom>
          <a:solidFill>
            <a:srgbClr val="E7E0F1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DiffEqGPU.jl  —  batched ensemble solves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304520" y="5669280"/>
            <a:ext cx="0" cy="228600"/>
          </a:xfrm>
          <a:prstGeom prst="line">
            <a:avLst/>
          </a:prstGeom>
          <a:ln w="19050">
            <a:solidFill>
              <a:srgbClr val="D9D9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966960" y="6766560"/>
            <a:ext cx="6675120" cy="64008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222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27432" rIns="54864" bIns="27432">
            <a:noAutofit/>
          </a:bodyPr>
          <a:lstStyle/>
          <a:p>
            <a:pPr algn="ctr" marL="0" indent="0">
              <a:buNone/>
            </a:pPr>
            <a:r>
              <a:rPr sz="1500" i="0" b="0">
                <a:solidFill>
                  <a:srgbClr val="101010"/>
                </a:solidFill>
                <a:latin typeface="Newzald Bold"/>
              </a:rPr>
              <a:t>CUDA / ROCm / Metal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304520" y="6537960"/>
            <a:ext cx="0" cy="228600"/>
          </a:xfrm>
          <a:prstGeom prst="line">
            <a:avLst/>
          </a:prstGeom>
          <a:ln w="19050">
            <a:solidFill>
              <a:srgbClr val="D9D9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509760" y="7772400"/>
            <a:ext cx="758952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Same code, one-line backend switch. No serialisation between sampler, solver and device.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8915400"/>
            <a:ext cx="162306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2000" i="0" b="0">
                <a:solidFill>
                  <a:srgbClr val="237794"/>
                </a:solidFill>
                <a:latin typeface="Newzald Bold"/>
              </a:rPr>
              <a:t>The graph scales by adding modules, not by growing one sampler — but that is a claim, not yet a demonstration.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The modules, concretely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Every free parameter carries a prior; every module declares its inference mode.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2560320"/>
            <a:ext cx="758952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TX/TL  —  ODE, differentiable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1580" y="3017520"/>
            <a:ext cx="740664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135000"/>
              </a:lnSpc>
              <a:buNone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d[mRNA]/dt   =  k_tx  −  γ_mRNA · [mRNA]</a:t>
            </a:r>
          </a:p>
          <a:p>
            <a:pPr algn="l" marL="0" indent="0">
              <a:lnSpc>
                <a:spcPct val="135000"/>
              </a:lnSpc>
              <a:buNone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d[protein]/dt =  k_tl · [mRNA]  −  γ_prot · [protein]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4251960"/>
            <a:ext cx="7589520" cy="1463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k_tx, k_tl, γ_mRNA, γ_prot  ~  LogNormal(0, 1)</a:t>
            </a:r>
          </a:p>
          <a:p>
            <a:pPr algn="l" marL="219456" indent="-219456">
              <a:lnSpc>
                <a:spcPct val="118000"/>
              </a:lnSpc>
              <a:spcBef>
                <a:spcPts val="4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σ_obs  ~  Normal(0, 1) truncated ≥ 0.  Initial conditions declared, fixed by default.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5943600"/>
            <a:ext cx="758952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Light metabolism  —  ODE, same 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6400800"/>
            <a:ext cx="7589520" cy="23774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Three states (ATP, NTP, AA) with enzyme-modulated ATP production; reads mRNA and enzyme protein from TX/TL.</a:t>
            </a:r>
          </a:p>
          <a:p>
            <a:pPr algn="l" marL="219456" indent="-219456">
              <a:lnSpc>
                <a:spcPct val="118000"/>
              </a:lnSpc>
              <a:spcBef>
                <a:spcPts val="6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k_atp, k_ntp, k_aa ~ LogNormal(0, 1); k_tx and k_tl are shared with TX/TL, so joint NUTS infers one posterior over both modules.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560320"/>
            <a:ext cx="758952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101010"/>
                </a:solidFill>
                <a:latin typeface="Newzald Bold"/>
              </a:rPr>
              <a:t>Bursty gene expression  —  SSA, simulation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3017520"/>
            <a:ext cx="7406640" cy="21031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140000"/>
              </a:lnSpc>
              <a:buNone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promoter off ⇄ on            k_on,  k_off</a:t>
            </a:r>
          </a:p>
          <a:p>
            <a:pPr algn="l" marL="0" indent="0">
              <a:lnSpc>
                <a:spcPct val="140000"/>
              </a:lnSpc>
              <a:buNone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∅ → mRNA                     k_tx,burst · promoter</a:t>
            </a:r>
          </a:p>
          <a:p>
            <a:pPr algn="l" marL="0" indent="0">
              <a:lnSpc>
                <a:spcPct val="140000"/>
              </a:lnSpc>
              <a:buNone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mRNA → ∅                     γ_mRNA · mRNA</a:t>
            </a:r>
          </a:p>
          <a:p>
            <a:pPr algn="l" marL="0" indent="0">
              <a:lnSpc>
                <a:spcPct val="140000"/>
              </a:lnSpc>
              <a:buNone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∅ → protein                  k_tl · mRNA</a:t>
            </a:r>
          </a:p>
          <a:p>
            <a:pPr algn="l" marL="0" indent="0">
              <a:lnSpc>
                <a:spcPct val="140000"/>
              </a:lnSpc>
              <a:buNone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protein → ∅                  γ_prot · protein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5349240"/>
            <a:ext cx="7589520" cy="3108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Telegraph promoter as six constant-rate jumps. States: promoter ∈ {0,1}, mRNA, protein.</a:t>
            </a:r>
          </a:p>
          <a:p>
            <a:pPr algn="l" marL="219456" indent="-219456">
              <a:lnSpc>
                <a:spcPct val="118000"/>
              </a:lnSpc>
              <a:spcBef>
                <a:spcPts val="6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k_on, k_off, k_tx,burst ~ LogNormal(0, 1). k_tl, γ_mRNA and γ_prot are shared with TX/TL — the same biology, a different formalism.</a:t>
            </a:r>
          </a:p>
          <a:p>
            <a:pPr algn="l" marL="219456" indent="-219456">
              <a:lnSpc>
                <a:spcPct val="118000"/>
              </a:lnSpc>
              <a:spcBef>
                <a:spcPts val="6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Inference: ABC-SMC on summary statistics, no explicit likelihood. Shared parameters receive conditioned priors from the differentiable block via the boundary protocol.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The API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Two formalisms, two inference backends, one call. The user does not choose the backend.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" y="2834640"/>
            <a:ext cx="7589520" cy="402336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9868" y="3035808"/>
            <a:ext cx="7187184" cy="3621024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marL="0" indent="0">
              <a:lnSpc>
                <a:spcPct val="132000"/>
              </a:lnSpc>
              <a:buNone/>
            </a:pPr>
            <a:r>
              <a:rPr sz="1300" i="0" b="0">
                <a:solidFill>
                  <a:srgbClr val="101010"/>
                </a:solidFill>
                <a:latin typeface="Courier New"/>
              </a:rPr>
              <a:t>using InferCell</a:t>
            </a:r>
          </a:p>
          <a:p>
            <a:pPr marL="0" indent="0">
              <a:lnSpc>
                <a:spcPct val="132000"/>
              </a:lnSpc>
              <a:buNone/>
            </a:pPr>
            <a:r>
              <a:rPr sz="1300" i="0" b="0">
                <a:solidFill>
                  <a:srgbClr val="101010"/>
                </a:solidFill>
                <a:latin typeface="Courier New"/>
              </a:rPr>
              <a:t/>
            </a:r>
          </a:p>
          <a:p>
            <a:pPr marL="0" indent="0">
              <a:lnSpc>
                <a:spcPct val="132000"/>
              </a:lnSpc>
              <a:buNone/>
            </a:pPr>
            <a:r>
              <a:rPr sz="1300" i="0" b="0">
                <a:solidFill>
                  <a:srgbClr val="545454"/>
                </a:solidFill>
                <a:latin typeface="Courier New"/>
              </a:rPr>
              <a:t># ODE model -&gt; NUTS, gradient-based</a:t>
            </a:r>
          </a:p>
          <a:p>
            <a:pPr marL="0" indent="0">
              <a:lnSpc>
                <a:spcPct val="132000"/>
              </a:lnSpc>
              <a:buNone/>
            </a:pPr>
            <a:r>
              <a:rPr sz="1300" i="0" b="0">
                <a:solidFill>
                  <a:srgbClr val="101010"/>
                </a:solidFill>
                <a:latin typeface="Courier New"/>
              </a:rPr>
              <a:t>model = TranscriptionTranslation()</a:t>
            </a:r>
          </a:p>
          <a:p>
            <a:pPr marL="0" indent="0">
              <a:lnSpc>
                <a:spcPct val="132000"/>
              </a:lnSpc>
              <a:buNone/>
            </a:pPr>
            <a:r>
              <a:rPr sz="1300" i="0" b="0">
                <a:solidFill>
                  <a:srgbClr val="101010"/>
                </a:solidFill>
                <a:latin typeface="Courier New"/>
              </a:rPr>
              <a:t>prob  = build_problem(model; tspan=(0.0, 50.0))</a:t>
            </a:r>
          </a:p>
          <a:p>
            <a:pPr marL="0" indent="0">
              <a:lnSpc>
                <a:spcPct val="132000"/>
              </a:lnSpc>
              <a:buNone/>
            </a:pPr>
            <a:r>
              <a:rPr sz="1300" i="0" b="0">
                <a:solidFill>
                  <a:srgbClr val="101010"/>
                </a:solidFill>
                <a:latin typeface="Courier New"/>
              </a:rPr>
              <a:t>data  = observe(solve(prob, Tsit5()), 0:2.5:50, model; sigma=0.3)</a:t>
            </a:r>
          </a:p>
          <a:p>
            <a:pPr marL="0" indent="0">
              <a:lnSpc>
                <a:spcPct val="132000"/>
              </a:lnSpc>
              <a:buNone/>
            </a:pPr>
            <a:r>
              <a:rPr sz="1300" i="0" b="0">
                <a:solidFill>
                  <a:srgbClr val="101010"/>
                </a:solidFill>
                <a:latin typeface="Courier New"/>
              </a:rPr>
              <a:t>chain = infer(model, data; n_samples=1000)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834640"/>
            <a:ext cx="7589520" cy="402336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10928" y="3035808"/>
            <a:ext cx="7187184" cy="3621024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marL="0" indent="0">
              <a:lnSpc>
                <a:spcPct val="132000"/>
              </a:lnSpc>
              <a:buNone/>
            </a:pPr>
            <a:r>
              <a:rPr sz="1300" i="0" b="0">
                <a:solidFill>
                  <a:srgbClr val="101010"/>
                </a:solidFill>
                <a:latin typeface="Courier New"/>
              </a:rPr>
              <a:t>using InferCell</a:t>
            </a:r>
          </a:p>
          <a:p>
            <a:pPr marL="0" indent="0">
              <a:lnSpc>
                <a:spcPct val="132000"/>
              </a:lnSpc>
              <a:buNone/>
            </a:pPr>
            <a:r>
              <a:rPr sz="1300" i="0" b="0">
                <a:solidFill>
                  <a:srgbClr val="101010"/>
                </a:solidFill>
                <a:latin typeface="Courier New"/>
              </a:rPr>
              <a:t/>
            </a:r>
          </a:p>
          <a:p>
            <a:pPr marL="0" indent="0">
              <a:lnSpc>
                <a:spcPct val="132000"/>
              </a:lnSpc>
              <a:buNone/>
            </a:pPr>
            <a:r>
              <a:rPr sz="1300" i="0" b="0">
                <a:solidFill>
                  <a:srgbClr val="545454"/>
                </a:solidFill>
                <a:latin typeface="Courier New"/>
              </a:rPr>
              <a:t># SSA model -&gt; ABC-SMC, likelihood-free</a:t>
            </a:r>
          </a:p>
          <a:p>
            <a:pPr marL="0" indent="0">
              <a:lnSpc>
                <a:spcPct val="132000"/>
              </a:lnSpc>
              <a:buNone/>
            </a:pPr>
            <a:r>
              <a:rPr sz="1300" i="0" b="0">
                <a:solidFill>
                  <a:srgbClr val="101010"/>
                </a:solidFill>
                <a:latin typeface="Courier New"/>
              </a:rPr>
              <a:t>model  = StochasticGeneExpression()</a:t>
            </a:r>
          </a:p>
          <a:p>
            <a:pPr marL="0" indent="0">
              <a:lnSpc>
                <a:spcPct val="132000"/>
              </a:lnSpc>
              <a:buNone/>
            </a:pPr>
            <a:r>
              <a:rPr sz="1300" i="0" b="0">
                <a:solidFill>
                  <a:srgbClr val="101010"/>
                </a:solidFill>
                <a:latin typeface="Courier New"/>
              </a:rPr>
              <a:t>prob   = build_problem(model; tspan=(0.0, 50.0))</a:t>
            </a:r>
          </a:p>
          <a:p>
            <a:pPr marL="0" indent="0">
              <a:lnSpc>
                <a:spcPct val="132000"/>
              </a:lnSpc>
              <a:buNone/>
            </a:pPr>
            <a:r>
              <a:rPr sz="1300" i="0" b="0">
                <a:solidFill>
                  <a:srgbClr val="101010"/>
                </a:solidFill>
                <a:latin typeface="Courier New"/>
              </a:rPr>
              <a:t>trajs  = [solve(prob, SSAStepper(); saveat=0:2.5:50) for _ in 1:200]</a:t>
            </a:r>
          </a:p>
          <a:p>
            <a:pPr marL="0" indent="0">
              <a:lnSpc>
                <a:spcPct val="132000"/>
              </a:lnSpc>
              <a:buNone/>
            </a:pPr>
            <a:r>
              <a:rPr sz="1300" i="0" b="0">
                <a:solidFill>
                  <a:srgbClr val="101010"/>
                </a:solidFill>
                <a:latin typeface="Courier New"/>
              </a:rPr>
              <a:t>result = infer(model, observe(trajs, 0:2.5:50, model); n_samples=300)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7223760"/>
            <a:ext cx="16230600" cy="1463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800" i="0" b="0">
                <a:solidFill>
                  <a:srgbClr val="101010"/>
                </a:solidFill>
                <a:latin typeface="Newzald Light"/>
              </a:rPr>
              <a:t>Same four steps, same infer() call.</a:t>
            </a:r>
          </a:p>
          <a:p>
            <a:pPr algn="l" marL="219456" indent="0">
              <a:lnSpc>
                <a:spcPct val="118000"/>
              </a:lnSpc>
              <a:spcBef>
                <a:spcPts val="200"/>
              </a:spcBef>
              <a:buNone/>
            </a:pPr>
            <a:r>
              <a:rPr sz="1500" i="1" b="0">
                <a:solidFill>
                  <a:srgbClr val="545454"/>
                </a:solidFill>
                <a:latin typeface="Newzald Light"/>
              </a:rPr>
              <a:t>The framework partitions the model and dispatches on each module's declared formalism and likelihood capability.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8915400"/>
            <a:ext cx="162306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marL="0" indent="0">
              <a:buNone/>
            </a:pPr>
            <a:r>
              <a:rPr sz="2000" i="0" b="0">
                <a:solidFill>
                  <a:srgbClr val="237794"/>
                </a:solidFill>
                <a:latin typeface="Newzald Bold"/>
              </a:rPr>
              <a:t>Adoption cost is the substance of question three — who we design for.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Simulation block: posteriors from ABC-SMC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The stochastic module, inferred without a likelihood.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pic>
        <p:nvPicPr>
          <p:cNvPr id="7" name="Picture 6" descr="step3_ssa_posteri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681" y="2468880"/>
            <a:ext cx="6690637" cy="67665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8700" y="470000"/>
            <a:ext cx="16230600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3000" i="0" b="0">
                <a:solidFill>
                  <a:srgbClr val="101010"/>
                </a:solidFill>
                <a:latin typeface="National Bold"/>
              </a:rPr>
              <a:t>Boundary protocol: what the iterative loop does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8700" y="1430000"/>
            <a:ext cx="16230600" cy="0"/>
          </a:xfrm>
          <a:prstGeom prst="line">
            <a:avLst/>
          </a:prstGeom>
          <a:ln w="1905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028700" y="1285634"/>
            <a:ext cx="1600200" cy="288733"/>
          </a:xfrm>
          <a:prstGeom prst="rect">
            <a:avLst/>
          </a:prstGeom>
          <a:solidFill>
            <a:srgbClr val="5EB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" y="1760000"/>
            <a:ext cx="1623060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2000" i="0" b="0">
                <a:solidFill>
                  <a:srgbClr val="545454"/>
                </a:solidFill>
                <a:latin typeface="Newzald Light"/>
              </a:rPr>
              <a:t>Shared parameters after message passing between the blocks. The intervals tighten — and coverage degrades with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9620000"/>
            <a:ext cx="11361420" cy="29260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0" indent="0">
              <a:buNone/>
            </a:pPr>
            <a:r>
              <a:rPr sz="1100" i="0" b="0">
                <a:solidFill>
                  <a:srgbClr val="D9D9D9"/>
                </a:solidFill>
                <a:latin typeface="Newzald Light"/>
              </a:rPr>
              <a:t>InferCell  ·  MACSYS ISAB  ·  12 August 2026</a:t>
            </a:r>
          </a:p>
        </p:txBody>
      </p:sp>
      <p:pic>
        <p:nvPicPr>
          <p:cNvPr id="7" name="Picture 6" descr="step4_corner_talk_sha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468880"/>
            <a:ext cx="6400800" cy="6400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8700" y="2926080"/>
            <a:ext cx="4206240" cy="457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marL="219456" indent="-219456">
              <a:lnSpc>
                <a:spcPct val="118000"/>
              </a:lnSpc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Single-pass, iterative and truth overlaid.</a:t>
            </a:r>
          </a:p>
          <a:p>
            <a:pPr algn="l" marL="219456" indent="-219456">
              <a:lnSpc>
                <a:spcPct val="118000"/>
              </a:lnSpc>
              <a:spcBef>
                <a:spcPts val="10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Iterative CIs shrink 55 – 60% on every shared parameter.</a:t>
            </a:r>
          </a:p>
          <a:p>
            <a:pPr algn="l" marL="219456" indent="-219456">
              <a:lnSpc>
                <a:spcPct val="118000"/>
              </a:lnSpc>
              <a:spcBef>
                <a:spcPts val="1000"/>
              </a:spcBef>
              <a:buChar char="•"/>
            </a:pPr>
            <a:r>
              <a:rPr sz="1500" i="0" b="0">
                <a:solidFill>
                  <a:srgbClr val="101010"/>
                </a:solidFill>
                <a:latin typeface="Newzald Light"/>
              </a:rPr>
              <a:t>Coverage at nominal 95%: 35 – 70%. Not a free win.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48B561EB86864497C49D669518D707" ma:contentTypeVersion="17" ma:contentTypeDescription="Create a new document." ma:contentTypeScope="" ma:versionID="ce891e19daae7c768d76ed67921d4de0">
  <xsd:schema xmlns:xsd="http://www.w3.org/2001/XMLSchema" xmlns:xs="http://www.w3.org/2001/XMLSchema" xmlns:p="http://schemas.microsoft.com/office/2006/metadata/properties" xmlns:ns2="7b4b5dc6-7355-4b26-8e60-bb3e8b6e76df" xmlns:ns3="516437e4-1b6a-4f0d-acc6-84cbb261cd32" targetNamespace="http://schemas.microsoft.com/office/2006/metadata/properties" ma:root="true" ma:fieldsID="bfac75ea5bf8423e313a35f73415d483" ns2:_="" ns3:_="">
    <xsd:import namespace="7b4b5dc6-7355-4b26-8e60-bb3e8b6e76df"/>
    <xsd:import namespace="516437e4-1b6a-4f0d-acc6-84cbb261cd3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4b5dc6-7355-4b26-8e60-bb3e8b6e76df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db163b37-248a-4bdb-8038-6e8df1cc47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6437e4-1b6a-4f0d-acc6-84cbb261cd3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e7351d0f-1954-4467-9be8-fa10de2845b9}" ma:internalName="TaxCatchAll" ma:showField="CatchAllData" ma:web="516437e4-1b6a-4f0d-acc6-84cbb261cd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b4b5dc6-7355-4b26-8e60-bb3e8b6e76df">
      <Terms xmlns="http://schemas.microsoft.com/office/infopath/2007/PartnerControls"/>
    </lcf76f155ced4ddcb4097134ff3c332f>
    <TaxCatchAll xmlns="516437e4-1b6a-4f0d-acc6-84cbb261cd3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127E68-3643-4B27-9E53-16AA97ECA872}">
  <ds:schemaRefs>
    <ds:schemaRef ds:uri="516437e4-1b6a-4f0d-acc6-84cbb261cd32"/>
    <ds:schemaRef ds:uri="7b4b5dc6-7355-4b26-8e60-bb3e8b6e76d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558B928-D02C-4283-A120-BE969809FF04}">
  <ds:schemaRefs>
    <ds:schemaRef ds:uri="516437e4-1b6a-4f0d-acc6-84cbb261cd32"/>
    <ds:schemaRef ds:uri="7b4b5dc6-7355-4b26-8e60-bb3e8b6e76d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2CB8EC9-3663-4F48-8FC7-471A21FAA4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MACSYS_presentation_template</dc:title>
  <cp:revision>1</cp:revision>
  <dcterms:created xsi:type="dcterms:W3CDTF">2006-08-16T00:00:00Z</dcterms:created>
  <dcterms:modified xsi:type="dcterms:W3CDTF">2024-08-22T05:31:20Z</dcterms:modified>
  <dc:identifier>DAFuerKCZ6I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0x0101008C48B561EB86864497C49D669518D707</vt:lpwstr>
  </property>
  <property fmtid="{D5CDD505-2E9C-101B-9397-08002B2CF9AE}" pid="3" name="MediaServiceImageTags">
    <vt:lpwstr/>
  </property>
</Properties>
</file>