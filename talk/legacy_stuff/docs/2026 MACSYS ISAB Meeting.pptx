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6"/>
  </p:notesMasterIdLst>
  <p:sldIdLst>
    <p:sldId id="256" r:id="rId5"/>
    <p:sldId id="1155" r:id="rId6"/>
    <p:sldId id="1156" r:id="rId7"/>
    <p:sldId id="1157" r:id="rId8"/>
    <p:sldId id="1158" r:id="rId9"/>
    <p:sldId id="1159" r:id="rId10"/>
    <p:sldId id="1160" r:id="rId11"/>
    <p:sldId id="1161" r:id="rId12"/>
    <p:sldId id="1162" r:id="rId13"/>
    <p:sldId id="1151" r:id="rId14"/>
    <p:sldId id="1154" r:id="rId15"/>
  </p:sldIdLst>
  <p:sldSz cx="18288000" cy="10287000"/>
  <p:notesSz cx="6858000" cy="9144000"/>
  <p:embeddedFontLst>
    <p:embeddedFont>
      <p:font typeface="National Bold" panose="02000503000000020004" pitchFamily="2" charset="77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36"/>
    <p:restoredTop sz="94664"/>
  </p:normalViewPr>
  <p:slideViewPr>
    <p:cSldViewPr snapToGrid="0">
      <p:cViewPr varScale="1">
        <p:scale>
          <a:sx n="74" d="100"/>
          <a:sy n="74" d="100"/>
        </p:scale>
        <p:origin x="408" y="2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nifer Flegg" userId="3bbe2916-b654-4c7f-8353-e0b58e19ca4a" providerId="ADAL" clId="{DE87F0C0-436B-537B-8044-BDE07067750B}"/>
    <pc:docChg chg="undo custSel addSld delSld modSld sldOrd">
      <pc:chgData name="Jennifer Flegg" userId="3bbe2916-b654-4c7f-8353-e0b58e19ca4a" providerId="ADAL" clId="{DE87F0C0-436B-537B-8044-BDE07067750B}" dt="2026-07-15T02:44:44.428" v="136" actId="20577"/>
      <pc:docMkLst>
        <pc:docMk/>
      </pc:docMkLst>
      <pc:sldChg chg="modSp mod">
        <pc:chgData name="Jennifer Flegg" userId="3bbe2916-b654-4c7f-8353-e0b58e19ca4a" providerId="ADAL" clId="{DE87F0C0-436B-537B-8044-BDE07067750B}" dt="2026-07-14T05:28:25.367" v="16" actId="113"/>
        <pc:sldMkLst>
          <pc:docMk/>
          <pc:sldMk cId="0" sldId="256"/>
        </pc:sldMkLst>
        <pc:spChg chg="mod">
          <ac:chgData name="Jennifer Flegg" userId="3bbe2916-b654-4c7f-8353-e0b58e19ca4a" providerId="ADAL" clId="{DE87F0C0-436B-537B-8044-BDE07067750B}" dt="2026-07-14T05:28:25.367" v="16" actId="113"/>
          <ac:spMkLst>
            <pc:docMk/>
            <pc:sldMk cId="0" sldId="256"/>
            <ac:spMk id="5" creationId="{00000000-0000-0000-0000-000000000000}"/>
          </ac:spMkLst>
        </pc:spChg>
      </pc:sldChg>
      <pc:sldChg chg="del">
        <pc:chgData name="Jennifer Flegg" userId="3bbe2916-b654-4c7f-8353-e0b58e19ca4a" providerId="ADAL" clId="{DE87F0C0-436B-537B-8044-BDE07067750B}" dt="2026-07-15T02:36:12.081" v="121" actId="2696"/>
        <pc:sldMkLst>
          <pc:docMk/>
          <pc:sldMk cId="3117153512" sldId="1150"/>
        </pc:sldMkLst>
      </pc:sldChg>
      <pc:sldChg chg="modSp mod ord">
        <pc:chgData name="Jennifer Flegg" userId="3bbe2916-b654-4c7f-8353-e0b58e19ca4a" providerId="ADAL" clId="{DE87F0C0-436B-537B-8044-BDE07067750B}" dt="2026-07-15T02:44:44.428" v="136" actId="20577"/>
        <pc:sldMkLst>
          <pc:docMk/>
          <pc:sldMk cId="2483025838" sldId="1151"/>
        </pc:sldMkLst>
        <pc:spChg chg="mod">
          <ac:chgData name="Jennifer Flegg" userId="3bbe2916-b654-4c7f-8353-e0b58e19ca4a" providerId="ADAL" clId="{DE87F0C0-436B-537B-8044-BDE07067750B}" dt="2026-07-15T02:44:44.428" v="136" actId="20577"/>
          <ac:spMkLst>
            <pc:docMk/>
            <pc:sldMk cId="2483025838" sldId="1151"/>
            <ac:spMk id="17" creationId="{D5EABBCE-F591-EA34-291F-B011E71E1B97}"/>
          </ac:spMkLst>
        </pc:spChg>
      </pc:sldChg>
      <pc:sldChg chg="del ord">
        <pc:chgData name="Jennifer Flegg" userId="3bbe2916-b654-4c7f-8353-e0b58e19ca4a" providerId="ADAL" clId="{DE87F0C0-436B-537B-8044-BDE07067750B}" dt="2026-07-14T10:12:30.918" v="41" actId="2696"/>
        <pc:sldMkLst>
          <pc:docMk/>
          <pc:sldMk cId="2483025838" sldId="1152"/>
        </pc:sldMkLst>
      </pc:sldChg>
      <pc:sldChg chg="modSp mod">
        <pc:chgData name="Jennifer Flegg" userId="3bbe2916-b654-4c7f-8353-e0b58e19ca4a" providerId="ADAL" clId="{DE87F0C0-436B-537B-8044-BDE07067750B}" dt="2026-07-15T02:41:09.375" v="131" actId="20577"/>
        <pc:sldMkLst>
          <pc:docMk/>
          <pc:sldMk cId="2483025838" sldId="1154"/>
        </pc:sldMkLst>
        <pc:spChg chg="mod">
          <ac:chgData name="Jennifer Flegg" userId="3bbe2916-b654-4c7f-8353-e0b58e19ca4a" providerId="ADAL" clId="{DE87F0C0-436B-537B-8044-BDE07067750B}" dt="2026-07-14T10:32:58.987" v="62" actId="20577"/>
          <ac:spMkLst>
            <pc:docMk/>
            <pc:sldMk cId="2483025838" sldId="1154"/>
            <ac:spMk id="15" creationId="{92C0BF20-8A9F-EFBF-BF9F-75E5D8267BD8}"/>
          </ac:spMkLst>
        </pc:spChg>
        <pc:spChg chg="mod">
          <ac:chgData name="Jennifer Flegg" userId="3bbe2916-b654-4c7f-8353-e0b58e19ca4a" providerId="ADAL" clId="{DE87F0C0-436B-537B-8044-BDE07067750B}" dt="2026-07-15T02:41:09.375" v="131" actId="20577"/>
          <ac:spMkLst>
            <pc:docMk/>
            <pc:sldMk cId="2483025838" sldId="1154"/>
            <ac:spMk id="17" creationId="{D5EABBCE-F591-EA34-291F-B011E71E1B97}"/>
          </ac:spMkLst>
        </pc:spChg>
      </pc:sldChg>
      <pc:sldChg chg="modSp mod">
        <pc:chgData name="Jennifer Flegg" userId="3bbe2916-b654-4c7f-8353-e0b58e19ca4a" providerId="ADAL" clId="{DE87F0C0-436B-537B-8044-BDE07067750B}" dt="2026-07-14T10:29:48.676" v="45" actId="113"/>
        <pc:sldMkLst>
          <pc:docMk/>
          <pc:sldMk cId="2483025838" sldId="1155"/>
        </pc:sldMkLst>
        <pc:spChg chg="mod">
          <ac:chgData name="Jennifer Flegg" userId="3bbe2916-b654-4c7f-8353-e0b58e19ca4a" providerId="ADAL" clId="{DE87F0C0-436B-537B-8044-BDE07067750B}" dt="2026-07-14T10:29:48.676" v="45" actId="113"/>
          <ac:spMkLst>
            <pc:docMk/>
            <pc:sldMk cId="2483025838" sldId="1155"/>
            <ac:spMk id="17" creationId="{D5EABBCE-F591-EA34-291F-B011E71E1B17}"/>
          </ac:spMkLst>
        </pc:spChg>
      </pc:sldChg>
      <pc:sldChg chg="modSp mod">
        <pc:chgData name="Jennifer Flegg" userId="3bbe2916-b654-4c7f-8353-e0b58e19ca4a" providerId="ADAL" clId="{DE87F0C0-436B-537B-8044-BDE07067750B}" dt="2026-07-14T10:30:02.341" v="46" actId="313"/>
        <pc:sldMkLst>
          <pc:docMk/>
          <pc:sldMk cId="2483025838" sldId="1156"/>
        </pc:sldMkLst>
        <pc:spChg chg="mod">
          <ac:chgData name="Jennifer Flegg" userId="3bbe2916-b654-4c7f-8353-e0b58e19ca4a" providerId="ADAL" clId="{DE87F0C0-436B-537B-8044-BDE07067750B}" dt="2026-07-14T10:30:02.341" v="46" actId="313"/>
          <ac:spMkLst>
            <pc:docMk/>
            <pc:sldMk cId="2483025838" sldId="1156"/>
            <ac:spMk id="17" creationId="{D5EABBCE-F591-EA34-291F-B011E71E1B17}"/>
          </ac:spMkLst>
        </pc:spChg>
        <pc:spChg chg="mod">
          <ac:chgData name="Jennifer Flegg" userId="3bbe2916-b654-4c7f-8353-e0b58e19ca4a" providerId="ADAL" clId="{DE87F0C0-436B-537B-8044-BDE07067750B}" dt="2026-07-14T05:31:12.746" v="31" actId="20577"/>
          <ac:spMkLst>
            <pc:docMk/>
            <pc:sldMk cId="2483025838" sldId="1156"/>
            <ac:spMk id="18" creationId="{D5EABBCE-F591-EA34-291F-B011E71E1B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D22F6-BF58-654D-8BD9-61FE5CC5C858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0A243-DCE9-E843-9777-33C14F0D49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263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0A243-DCE9-E843-9777-33C14F0D495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92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77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998267"/>
            <a:ext cx="9144000" cy="288733"/>
            <a:chOff x="0" y="0"/>
            <a:chExt cx="2408296" cy="760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76045"/>
            </a:xfrm>
            <a:custGeom>
              <a:avLst/>
              <a:gdLst/>
              <a:ahLst/>
              <a:cxnLst/>
              <a:rect l="l" t="t" r="r" b="b"/>
              <a:pathLst>
                <a:path w="2408296" h="76045">
                  <a:moveTo>
                    <a:pt x="0" y="0"/>
                  </a:moveTo>
                  <a:lnTo>
                    <a:pt x="2408296" y="0"/>
                  </a:lnTo>
                  <a:lnTo>
                    <a:pt x="2408296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5EB3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48985" y="4669675"/>
            <a:ext cx="12695482" cy="2288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239"/>
              </a:lnSpc>
            </a:pPr>
            <a:r>
              <a:rPr lang="en-US" sz="6600" b="1" spc="-149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2026 MACSYS International Scientific Advisory Board Meeting</a:t>
            </a:r>
          </a:p>
        </p:txBody>
      </p:sp>
      <p:sp>
        <p:nvSpPr>
          <p:cNvPr id="6" name="Freeform 6"/>
          <p:cNvSpPr/>
          <p:nvPr/>
        </p:nvSpPr>
        <p:spPr>
          <a:xfrm>
            <a:off x="-3383877" y="-4351859"/>
            <a:ext cx="9022634" cy="9258300"/>
          </a:xfrm>
          <a:custGeom>
            <a:avLst/>
            <a:gdLst/>
            <a:ahLst/>
            <a:cxnLst/>
            <a:rect l="l" t="t" r="r" b="b"/>
            <a:pathLst>
              <a:path w="9022634" h="9258300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7659121">
            <a:off x="15091031" y="5585714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461811" y="902891"/>
            <a:ext cx="6797489" cy="1709445"/>
          </a:xfrm>
          <a:custGeom>
            <a:avLst/>
            <a:gdLst/>
            <a:ahLst/>
            <a:cxnLst/>
            <a:rect l="l" t="t" r="r" b="b"/>
            <a:pathLst>
              <a:path w="6797489" h="1709445">
                <a:moveTo>
                  <a:pt x="0" y="0"/>
                </a:moveTo>
                <a:lnTo>
                  <a:pt x="6797489" y="0"/>
                </a:lnTo>
                <a:lnTo>
                  <a:pt x="6797489" y="1709444"/>
                </a:lnTo>
                <a:lnTo>
                  <a:pt x="0" y="1709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53D71-2857-1CBD-FBCE-2A4FCED7F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C141126-FA59-3DC7-2298-A4974FFA75E2}"/>
              </a:ext>
            </a:extLst>
          </p:cNvPr>
          <p:cNvGrpSpPr/>
          <p:nvPr/>
        </p:nvGrpSpPr>
        <p:grpSpPr>
          <a:xfrm>
            <a:off x="0" y="8144"/>
            <a:ext cx="18288000" cy="3912842"/>
            <a:chOff x="0" y="0"/>
            <a:chExt cx="4816593" cy="10305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52ABDA-79DA-9095-7C5D-7A247D047B57}"/>
                </a:ext>
              </a:extLst>
            </p:cNvPr>
            <p:cNvSpPr/>
            <p:nvPr/>
          </p:nvSpPr>
          <p:spPr>
            <a:xfrm>
              <a:off x="0" y="0"/>
              <a:ext cx="4816592" cy="1030543"/>
            </a:xfrm>
            <a:custGeom>
              <a:avLst/>
              <a:gdLst/>
              <a:ahLst/>
              <a:cxnLst/>
              <a:rect l="l" t="t" r="r" b="b"/>
              <a:pathLst>
                <a:path w="4816592" h="1030543">
                  <a:moveTo>
                    <a:pt x="0" y="0"/>
                  </a:moveTo>
                  <a:lnTo>
                    <a:pt x="4816592" y="0"/>
                  </a:lnTo>
                  <a:lnTo>
                    <a:pt x="4816592" y="1030543"/>
                  </a:lnTo>
                  <a:lnTo>
                    <a:pt x="0" y="1030543"/>
                  </a:lnTo>
                  <a:close/>
                </a:path>
              </a:pathLst>
            </a:custGeom>
            <a:solidFill>
              <a:srgbClr val="2377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782860B-AD11-9633-7F9B-745E3DF79957}"/>
                </a:ext>
              </a:extLst>
            </p:cNvPr>
            <p:cNvSpPr txBox="1"/>
            <p:nvPr/>
          </p:nvSpPr>
          <p:spPr>
            <a:xfrm>
              <a:off x="0" y="-38100"/>
              <a:ext cx="4816593" cy="1068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D91B063-3509-AB40-4DE3-3892F1A8E24F}"/>
              </a:ext>
            </a:extLst>
          </p:cNvPr>
          <p:cNvGrpSpPr/>
          <p:nvPr/>
        </p:nvGrpSpPr>
        <p:grpSpPr>
          <a:xfrm>
            <a:off x="0" y="3624109"/>
            <a:ext cx="6212838" cy="288733"/>
            <a:chOff x="0" y="0"/>
            <a:chExt cx="1636303" cy="7604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341CBB2-B96A-4002-9221-36EF995FA902}"/>
                </a:ext>
              </a:extLst>
            </p:cNvPr>
            <p:cNvSpPr/>
            <p:nvPr/>
          </p:nvSpPr>
          <p:spPr>
            <a:xfrm>
              <a:off x="0" y="0"/>
              <a:ext cx="1636303" cy="76045"/>
            </a:xfrm>
            <a:custGeom>
              <a:avLst/>
              <a:gdLst/>
              <a:ahLst/>
              <a:cxnLst/>
              <a:rect l="l" t="t" r="r" b="b"/>
              <a:pathLst>
                <a:path w="1636303" h="76045">
                  <a:moveTo>
                    <a:pt x="0" y="0"/>
                  </a:moveTo>
                  <a:lnTo>
                    <a:pt x="1636303" y="0"/>
                  </a:lnTo>
                  <a:lnTo>
                    <a:pt x="1636303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5EB3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EDB08C0-18E3-E585-2A21-DBBF08A80E03}"/>
                </a:ext>
              </a:extLst>
            </p:cNvPr>
            <p:cNvSpPr txBox="1"/>
            <p:nvPr/>
          </p:nvSpPr>
          <p:spPr>
            <a:xfrm>
              <a:off x="0" y="-38100"/>
              <a:ext cx="1636303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>
            <a:extLst>
              <a:ext uri="{FF2B5EF4-FFF2-40B4-BE49-F238E27FC236}">
                <a16:creationId xmlns:a16="http://schemas.microsoft.com/office/drawing/2014/main" id="{97BAC13C-5AC7-C959-B801-DB3D2D93083F}"/>
              </a:ext>
            </a:extLst>
          </p:cNvPr>
          <p:cNvSpPr/>
          <p:nvPr/>
        </p:nvSpPr>
        <p:spPr>
          <a:xfrm>
            <a:off x="1028700" y="601417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92C0BF20-8A9F-EFBF-BF9F-75E5D8267BD8}"/>
              </a:ext>
            </a:extLst>
          </p:cNvPr>
          <p:cNvSpPr txBox="1"/>
          <p:nvPr/>
        </p:nvSpPr>
        <p:spPr>
          <a:xfrm>
            <a:off x="1028701" y="1401703"/>
            <a:ext cx="16000000" cy="145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 dirty="0">
                <a:solidFill>
                  <a:srgbClr val="FFFFFF"/>
                </a:solidFill>
                <a:latin typeface="National Bold"/>
              </a:rPr>
              <a:t>About the ISAB</a:t>
            </a:r>
          </a:p>
          <a:p>
            <a:pPr>
              <a:lnSpc>
                <a:spcPts val="2600"/>
              </a:lnSpc>
            </a:pPr>
            <a:r>
              <a:rPr lang="en-US" sz="2800" dirty="0">
                <a:solidFill>
                  <a:srgbClr val="FFFFFF"/>
                </a:solidFill>
                <a:latin typeface="Calibri"/>
              </a:rPr>
              <a:t>Purpose &amp; Responsibilities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5EABBCE-F591-EA34-291F-B011E71E1B17}"/>
              </a:ext>
            </a:extLst>
          </p:cNvPr>
          <p:cNvSpPr txBox="1"/>
          <p:nvPr/>
        </p:nvSpPr>
        <p:spPr>
          <a:xfrm>
            <a:off x="1028700" y="4514259"/>
            <a:ext cx="16646824" cy="56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400"/>
              </a:lnSpc>
            </a:pPr>
            <a:r>
              <a:rPr lang="en-AU" sz="2800" dirty="0"/>
              <a:t>The International Scientific Advisory Board (ISAB) </a:t>
            </a:r>
            <a:r>
              <a:rPr lang="en-AU" sz="2800" b="1" dirty="0"/>
              <a:t>contributes to the development of scientific strategies </a:t>
            </a:r>
            <a:r>
              <a:rPr lang="en-AU" sz="2800" dirty="0"/>
              <a:t>and vision for MACSYS. It assists executive management in </a:t>
            </a:r>
            <a:r>
              <a:rPr lang="en-AU" sz="2800" b="1" dirty="0"/>
              <a:t>shaping the strategic research direction</a:t>
            </a:r>
            <a:r>
              <a:rPr lang="en-AU" sz="2800" dirty="0"/>
              <a:t>, offers an </a:t>
            </a:r>
            <a:r>
              <a:rPr lang="en-AU" sz="2800" b="1" dirty="0"/>
              <a:t>international perspective </a:t>
            </a:r>
            <a:r>
              <a:rPr lang="en-AU" sz="2800" dirty="0"/>
              <a:t>on the research field, and undertakes </a:t>
            </a:r>
            <a:r>
              <a:rPr lang="en-AU" sz="2800" b="1" dirty="0"/>
              <a:t>international benchmarking </a:t>
            </a:r>
            <a:r>
              <a:rPr lang="en-AU" sz="2800" dirty="0"/>
              <a:t>— providing invaluable advice on opportunities for new intellectual property, commercialisation and other translation outcomes.</a:t>
            </a:r>
          </a:p>
          <a:p>
            <a:pPr>
              <a:lnSpc>
                <a:spcPts val="3400"/>
              </a:lnSpc>
              <a:spcBef>
                <a:spcPts val="1200"/>
              </a:spcBef>
            </a:pPr>
            <a:r>
              <a:rPr lang="en-AU" sz="2800" b="1" dirty="0"/>
              <a:t>Key responsibilities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Advising on the scientific direction of MACSYS research and translational activities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Shaping research focus at the forefront of whole-cell modelling for impact in academia and beyond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Identifying stronger linkages between academia, industry, government and other sectors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Providing an international perspective and benchmarking, at least biennially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Contributing to the annual review and development of the strategic research plan, including Strategic Initiatives Fund priorities</a:t>
            </a:r>
          </a:p>
        </p:txBody>
      </p:sp>
    </p:spTree>
    <p:extLst>
      <p:ext uri="{BB962C8B-B14F-4D97-AF65-F5344CB8AC3E}">
        <p14:creationId xmlns:p14="http://schemas.microsoft.com/office/powerpoint/2010/main" val="2483025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53D71-2857-1CBD-FBCE-2A4FCED7F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C141126-FA59-3DC7-2298-A4974FFA75E2}"/>
              </a:ext>
            </a:extLst>
          </p:cNvPr>
          <p:cNvGrpSpPr/>
          <p:nvPr/>
        </p:nvGrpSpPr>
        <p:grpSpPr>
          <a:xfrm>
            <a:off x="0" y="8144"/>
            <a:ext cx="18288000" cy="3912842"/>
            <a:chOff x="0" y="0"/>
            <a:chExt cx="4816593" cy="10305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52ABDA-79DA-9095-7C5D-7A247D047B57}"/>
                </a:ext>
              </a:extLst>
            </p:cNvPr>
            <p:cNvSpPr/>
            <p:nvPr/>
          </p:nvSpPr>
          <p:spPr>
            <a:xfrm>
              <a:off x="0" y="0"/>
              <a:ext cx="4816592" cy="1030543"/>
            </a:xfrm>
            <a:custGeom>
              <a:avLst/>
              <a:gdLst/>
              <a:ahLst/>
              <a:cxnLst/>
              <a:rect l="l" t="t" r="r" b="b"/>
              <a:pathLst>
                <a:path w="4816592" h="1030543">
                  <a:moveTo>
                    <a:pt x="0" y="0"/>
                  </a:moveTo>
                  <a:lnTo>
                    <a:pt x="4816592" y="0"/>
                  </a:lnTo>
                  <a:lnTo>
                    <a:pt x="4816592" y="1030543"/>
                  </a:lnTo>
                  <a:lnTo>
                    <a:pt x="0" y="1030543"/>
                  </a:lnTo>
                  <a:close/>
                </a:path>
              </a:pathLst>
            </a:custGeom>
            <a:solidFill>
              <a:srgbClr val="2377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782860B-AD11-9633-7F9B-745E3DF79957}"/>
                </a:ext>
              </a:extLst>
            </p:cNvPr>
            <p:cNvSpPr txBox="1"/>
            <p:nvPr/>
          </p:nvSpPr>
          <p:spPr>
            <a:xfrm>
              <a:off x="0" y="-38100"/>
              <a:ext cx="4816593" cy="1068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D91B063-3509-AB40-4DE3-3892F1A8E24F}"/>
              </a:ext>
            </a:extLst>
          </p:cNvPr>
          <p:cNvGrpSpPr/>
          <p:nvPr/>
        </p:nvGrpSpPr>
        <p:grpSpPr>
          <a:xfrm>
            <a:off x="0" y="3624109"/>
            <a:ext cx="6212838" cy="288733"/>
            <a:chOff x="0" y="0"/>
            <a:chExt cx="1636303" cy="7604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341CBB2-B96A-4002-9221-36EF995FA902}"/>
                </a:ext>
              </a:extLst>
            </p:cNvPr>
            <p:cNvSpPr/>
            <p:nvPr/>
          </p:nvSpPr>
          <p:spPr>
            <a:xfrm>
              <a:off x="0" y="0"/>
              <a:ext cx="1636303" cy="76045"/>
            </a:xfrm>
            <a:custGeom>
              <a:avLst/>
              <a:gdLst/>
              <a:ahLst/>
              <a:cxnLst/>
              <a:rect l="l" t="t" r="r" b="b"/>
              <a:pathLst>
                <a:path w="1636303" h="76045">
                  <a:moveTo>
                    <a:pt x="0" y="0"/>
                  </a:moveTo>
                  <a:lnTo>
                    <a:pt x="1636303" y="0"/>
                  </a:lnTo>
                  <a:lnTo>
                    <a:pt x="1636303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5EB3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EDB08C0-18E3-E585-2A21-DBBF08A80E03}"/>
                </a:ext>
              </a:extLst>
            </p:cNvPr>
            <p:cNvSpPr txBox="1"/>
            <p:nvPr/>
          </p:nvSpPr>
          <p:spPr>
            <a:xfrm>
              <a:off x="0" y="-38100"/>
              <a:ext cx="1636303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>
            <a:extLst>
              <a:ext uri="{FF2B5EF4-FFF2-40B4-BE49-F238E27FC236}">
                <a16:creationId xmlns:a16="http://schemas.microsoft.com/office/drawing/2014/main" id="{97BAC13C-5AC7-C959-B801-DB3D2D93083F}"/>
              </a:ext>
            </a:extLst>
          </p:cNvPr>
          <p:cNvSpPr/>
          <p:nvPr/>
        </p:nvSpPr>
        <p:spPr>
          <a:xfrm>
            <a:off x="1028700" y="601417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92C0BF20-8A9F-EFBF-BF9F-75E5D8267BD8}"/>
              </a:ext>
            </a:extLst>
          </p:cNvPr>
          <p:cNvSpPr txBox="1"/>
          <p:nvPr/>
        </p:nvSpPr>
        <p:spPr>
          <a:xfrm>
            <a:off x="1028701" y="1401703"/>
            <a:ext cx="16000000" cy="145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 dirty="0">
                <a:solidFill>
                  <a:srgbClr val="FFFFFF"/>
                </a:solidFill>
                <a:latin typeface="National Bold"/>
              </a:rPr>
              <a:t>ISAB Membership &amp; Procedures</a:t>
            </a:r>
          </a:p>
          <a:p>
            <a:pPr>
              <a:lnSpc>
                <a:spcPts val="2600"/>
              </a:lnSpc>
            </a:pPr>
            <a:r>
              <a:rPr lang="en-US" sz="2800" dirty="0">
                <a:solidFill>
                  <a:srgbClr val="FFFFFF"/>
                </a:solidFill>
                <a:latin typeface="Calibri"/>
              </a:rPr>
              <a:t>Terms of Reference 2025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5EABBCE-F591-EA34-291F-B011E71E1B17}"/>
              </a:ext>
            </a:extLst>
          </p:cNvPr>
          <p:cNvSpPr txBox="1"/>
          <p:nvPr/>
        </p:nvSpPr>
        <p:spPr>
          <a:xfrm>
            <a:off x="1028700" y="4400000"/>
            <a:ext cx="7900000" cy="56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400"/>
              </a:lnSpc>
            </a:pPr>
            <a:r>
              <a:rPr lang="en-AU" sz="2800" b="1" dirty="0">
                <a:solidFill>
                  <a:srgbClr val="237794"/>
                </a:solidFill>
              </a:rPr>
              <a:t>Membership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4–6 independent members (including the Chair)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MACSYS Director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MACSYS Chief Operating Officer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Chair, Strategic Research Committee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Chair, Translation &amp; Partner Engagement Committee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Independent members are appointed for terms of up to two years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5EABBCE-F591-EA34-291F-B011E71E1B18}"/>
              </a:ext>
            </a:extLst>
          </p:cNvPr>
          <p:cNvSpPr txBox="1"/>
          <p:nvPr/>
        </p:nvSpPr>
        <p:spPr>
          <a:xfrm>
            <a:off x="9300000" y="4400000"/>
            <a:ext cx="7900000" cy="56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400"/>
              </a:lnSpc>
            </a:pPr>
            <a:r>
              <a:rPr lang="en-AU" sz="2800" b="1" dirty="0">
                <a:solidFill>
                  <a:srgbClr val="237794"/>
                </a:solidFill>
              </a:rPr>
              <a:t>Meeting Procedures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Meets at least once a year, by video conference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Additional meetings may be convened in person and/or virtually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The ISAB's role is advisory only — its resolutions are not binding</a:t>
            </a:r>
          </a:p>
        </p:txBody>
      </p:sp>
    </p:spTree>
    <p:extLst>
      <p:ext uri="{BB962C8B-B14F-4D97-AF65-F5344CB8AC3E}">
        <p14:creationId xmlns:p14="http://schemas.microsoft.com/office/powerpoint/2010/main" val="2483025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53D71-2857-1CBD-FBCE-2A4FCED7F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C141126-FA59-3DC7-2298-A4974FFA75E2}"/>
              </a:ext>
            </a:extLst>
          </p:cNvPr>
          <p:cNvGrpSpPr/>
          <p:nvPr/>
        </p:nvGrpSpPr>
        <p:grpSpPr>
          <a:xfrm>
            <a:off x="0" y="8144"/>
            <a:ext cx="18288000" cy="3912842"/>
            <a:chOff x="0" y="0"/>
            <a:chExt cx="4816593" cy="10305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52ABDA-79DA-9095-7C5D-7A247D047B57}"/>
                </a:ext>
              </a:extLst>
            </p:cNvPr>
            <p:cNvSpPr/>
            <p:nvPr/>
          </p:nvSpPr>
          <p:spPr>
            <a:xfrm>
              <a:off x="0" y="0"/>
              <a:ext cx="4816592" cy="1030543"/>
            </a:xfrm>
            <a:custGeom>
              <a:avLst/>
              <a:gdLst/>
              <a:ahLst/>
              <a:cxnLst/>
              <a:rect l="l" t="t" r="r" b="b"/>
              <a:pathLst>
                <a:path w="4816592" h="1030543">
                  <a:moveTo>
                    <a:pt x="0" y="0"/>
                  </a:moveTo>
                  <a:lnTo>
                    <a:pt x="4816592" y="0"/>
                  </a:lnTo>
                  <a:lnTo>
                    <a:pt x="4816592" y="1030543"/>
                  </a:lnTo>
                  <a:lnTo>
                    <a:pt x="0" y="1030543"/>
                  </a:lnTo>
                  <a:close/>
                </a:path>
              </a:pathLst>
            </a:custGeom>
            <a:solidFill>
              <a:srgbClr val="2377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782860B-AD11-9633-7F9B-745E3DF79957}"/>
                </a:ext>
              </a:extLst>
            </p:cNvPr>
            <p:cNvSpPr txBox="1"/>
            <p:nvPr/>
          </p:nvSpPr>
          <p:spPr>
            <a:xfrm>
              <a:off x="0" y="-38100"/>
              <a:ext cx="4816593" cy="1068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D91B063-3509-AB40-4DE3-3892F1A8E24F}"/>
              </a:ext>
            </a:extLst>
          </p:cNvPr>
          <p:cNvGrpSpPr/>
          <p:nvPr/>
        </p:nvGrpSpPr>
        <p:grpSpPr>
          <a:xfrm>
            <a:off x="0" y="3624109"/>
            <a:ext cx="6212838" cy="288733"/>
            <a:chOff x="0" y="0"/>
            <a:chExt cx="1636303" cy="7604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341CBB2-B96A-4002-9221-36EF995FA902}"/>
                </a:ext>
              </a:extLst>
            </p:cNvPr>
            <p:cNvSpPr/>
            <p:nvPr/>
          </p:nvSpPr>
          <p:spPr>
            <a:xfrm>
              <a:off x="0" y="0"/>
              <a:ext cx="1636303" cy="76045"/>
            </a:xfrm>
            <a:custGeom>
              <a:avLst/>
              <a:gdLst/>
              <a:ahLst/>
              <a:cxnLst/>
              <a:rect l="l" t="t" r="r" b="b"/>
              <a:pathLst>
                <a:path w="1636303" h="76045">
                  <a:moveTo>
                    <a:pt x="0" y="0"/>
                  </a:moveTo>
                  <a:lnTo>
                    <a:pt x="1636303" y="0"/>
                  </a:lnTo>
                  <a:lnTo>
                    <a:pt x="1636303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5EB3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EDB08C0-18E3-E585-2A21-DBBF08A80E03}"/>
                </a:ext>
              </a:extLst>
            </p:cNvPr>
            <p:cNvSpPr txBox="1"/>
            <p:nvPr/>
          </p:nvSpPr>
          <p:spPr>
            <a:xfrm>
              <a:off x="0" y="-38100"/>
              <a:ext cx="1636303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>
            <a:extLst>
              <a:ext uri="{FF2B5EF4-FFF2-40B4-BE49-F238E27FC236}">
                <a16:creationId xmlns:a16="http://schemas.microsoft.com/office/drawing/2014/main" id="{97BAC13C-5AC7-C959-B801-DB3D2D93083F}"/>
              </a:ext>
            </a:extLst>
          </p:cNvPr>
          <p:cNvSpPr/>
          <p:nvPr/>
        </p:nvSpPr>
        <p:spPr>
          <a:xfrm>
            <a:off x="1028700" y="601417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92C0BF20-8A9F-EFBF-BF9F-75E5D8267BD8}"/>
              </a:ext>
            </a:extLst>
          </p:cNvPr>
          <p:cNvSpPr txBox="1"/>
          <p:nvPr/>
        </p:nvSpPr>
        <p:spPr>
          <a:xfrm>
            <a:off x="1028701" y="1401703"/>
            <a:ext cx="16000000" cy="145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 dirty="0">
                <a:solidFill>
                  <a:srgbClr val="FFFFFF"/>
                </a:solidFill>
                <a:latin typeface="National Bold"/>
              </a:rPr>
              <a:t>Hugh Possingham</a:t>
            </a:r>
          </a:p>
          <a:p>
            <a:pPr>
              <a:lnSpc>
                <a:spcPts val="2600"/>
              </a:lnSpc>
            </a:pPr>
            <a:r>
              <a:rPr lang="en-US" sz="2800" dirty="0">
                <a:solidFill>
                  <a:srgbClr val="FFFFFF"/>
                </a:solidFill>
                <a:latin typeface="Calibri"/>
              </a:rPr>
              <a:t>Chair, International Scientific Advisory Board  |  Emeritus Professor, University of Queensland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5EABBCE-F591-EA34-291F-B011E71E1B17}"/>
              </a:ext>
            </a:extLst>
          </p:cNvPr>
          <p:cNvSpPr txBox="1"/>
          <p:nvPr/>
        </p:nvSpPr>
        <p:spPr>
          <a:xfrm>
            <a:off x="1028700" y="4514259"/>
            <a:ext cx="10400000" cy="50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457200" indent="-45720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Vice-Chancellor’s Senior Research Fellow, UQ Centre for Biodiversity and Conservation Science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Formerly held ARC Professorial, Laureate &amp; Federation Fellowships in Mathematics, Zoology and the School of the Environment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Co-developed Marxan, a widely used global conservation spatial-planning tool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Queensland Chief Scientist, 2020–2022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Foreign Associate, US National Academy of Sciences; Fellow, Royal Society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0000" y="4700000"/>
            <a:ext cx="4200000" cy="4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25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53D71-2857-1CBD-FBCE-2A4FCED7F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C141126-FA59-3DC7-2298-A4974FFA75E2}"/>
              </a:ext>
            </a:extLst>
          </p:cNvPr>
          <p:cNvGrpSpPr/>
          <p:nvPr/>
        </p:nvGrpSpPr>
        <p:grpSpPr>
          <a:xfrm>
            <a:off x="0" y="8144"/>
            <a:ext cx="18288000" cy="3912842"/>
            <a:chOff x="0" y="0"/>
            <a:chExt cx="4816593" cy="10305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52ABDA-79DA-9095-7C5D-7A247D047B57}"/>
                </a:ext>
              </a:extLst>
            </p:cNvPr>
            <p:cNvSpPr/>
            <p:nvPr/>
          </p:nvSpPr>
          <p:spPr>
            <a:xfrm>
              <a:off x="0" y="0"/>
              <a:ext cx="4816592" cy="1030543"/>
            </a:xfrm>
            <a:custGeom>
              <a:avLst/>
              <a:gdLst/>
              <a:ahLst/>
              <a:cxnLst/>
              <a:rect l="l" t="t" r="r" b="b"/>
              <a:pathLst>
                <a:path w="4816592" h="1030543">
                  <a:moveTo>
                    <a:pt x="0" y="0"/>
                  </a:moveTo>
                  <a:lnTo>
                    <a:pt x="4816592" y="0"/>
                  </a:lnTo>
                  <a:lnTo>
                    <a:pt x="4816592" y="1030543"/>
                  </a:lnTo>
                  <a:lnTo>
                    <a:pt x="0" y="1030543"/>
                  </a:lnTo>
                  <a:close/>
                </a:path>
              </a:pathLst>
            </a:custGeom>
            <a:solidFill>
              <a:srgbClr val="2377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782860B-AD11-9633-7F9B-745E3DF79957}"/>
                </a:ext>
              </a:extLst>
            </p:cNvPr>
            <p:cNvSpPr txBox="1"/>
            <p:nvPr/>
          </p:nvSpPr>
          <p:spPr>
            <a:xfrm>
              <a:off x="0" y="-38100"/>
              <a:ext cx="4816593" cy="1068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D91B063-3509-AB40-4DE3-3892F1A8E24F}"/>
              </a:ext>
            </a:extLst>
          </p:cNvPr>
          <p:cNvGrpSpPr/>
          <p:nvPr/>
        </p:nvGrpSpPr>
        <p:grpSpPr>
          <a:xfrm>
            <a:off x="0" y="3624109"/>
            <a:ext cx="6212838" cy="288733"/>
            <a:chOff x="0" y="0"/>
            <a:chExt cx="1636303" cy="7604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341CBB2-B96A-4002-9221-36EF995FA902}"/>
                </a:ext>
              </a:extLst>
            </p:cNvPr>
            <p:cNvSpPr/>
            <p:nvPr/>
          </p:nvSpPr>
          <p:spPr>
            <a:xfrm>
              <a:off x="0" y="0"/>
              <a:ext cx="1636303" cy="76045"/>
            </a:xfrm>
            <a:custGeom>
              <a:avLst/>
              <a:gdLst/>
              <a:ahLst/>
              <a:cxnLst/>
              <a:rect l="l" t="t" r="r" b="b"/>
              <a:pathLst>
                <a:path w="1636303" h="76045">
                  <a:moveTo>
                    <a:pt x="0" y="0"/>
                  </a:moveTo>
                  <a:lnTo>
                    <a:pt x="1636303" y="0"/>
                  </a:lnTo>
                  <a:lnTo>
                    <a:pt x="1636303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5EB3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EDB08C0-18E3-E585-2A21-DBBF08A80E03}"/>
                </a:ext>
              </a:extLst>
            </p:cNvPr>
            <p:cNvSpPr txBox="1"/>
            <p:nvPr/>
          </p:nvSpPr>
          <p:spPr>
            <a:xfrm>
              <a:off x="0" y="-38100"/>
              <a:ext cx="1636303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>
            <a:extLst>
              <a:ext uri="{FF2B5EF4-FFF2-40B4-BE49-F238E27FC236}">
                <a16:creationId xmlns:a16="http://schemas.microsoft.com/office/drawing/2014/main" id="{97BAC13C-5AC7-C959-B801-DB3D2D93083F}"/>
              </a:ext>
            </a:extLst>
          </p:cNvPr>
          <p:cNvSpPr/>
          <p:nvPr/>
        </p:nvSpPr>
        <p:spPr>
          <a:xfrm>
            <a:off x="1028700" y="601417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92C0BF20-8A9F-EFBF-BF9F-75E5D8267BD8}"/>
              </a:ext>
            </a:extLst>
          </p:cNvPr>
          <p:cNvSpPr txBox="1"/>
          <p:nvPr/>
        </p:nvSpPr>
        <p:spPr>
          <a:xfrm>
            <a:off x="1028701" y="1401703"/>
            <a:ext cx="16000000" cy="145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 dirty="0">
                <a:solidFill>
                  <a:srgbClr val="FFFFFF"/>
                </a:solidFill>
                <a:latin typeface="National Bold"/>
              </a:rPr>
              <a:t>Brenda Andrews</a:t>
            </a:r>
          </a:p>
          <a:p>
            <a:pPr>
              <a:lnSpc>
                <a:spcPts val="2600"/>
              </a:lnSpc>
            </a:pPr>
            <a:r>
              <a:rPr lang="en-US" sz="2800" dirty="0">
                <a:solidFill>
                  <a:srgbClr val="FFFFFF"/>
                </a:solidFill>
                <a:latin typeface="Calibri"/>
              </a:rPr>
              <a:t>Independent Member  |  University Professor &amp; Canada Research Chair, University of Toronto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5EABBCE-F591-EA34-291F-B011E71E1B17}"/>
              </a:ext>
            </a:extLst>
          </p:cNvPr>
          <p:cNvSpPr txBox="1"/>
          <p:nvPr/>
        </p:nvSpPr>
        <p:spPr>
          <a:xfrm>
            <a:off x="1028700" y="4514259"/>
            <a:ext cx="10400000" cy="50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457200" indent="-45720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University Professor &amp; Canada Research Chair in Systems Genetics and Cell Biology, Donnelly Centre, University of Toronto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Research spans cellular signalling and genetic networks in yeast, using functional genomics and high-content screening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Created the first complete genetic interaction map for a model eukaryotic cell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Companion of the Order of Canada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Fellow, Royal Society of Canada &amp; American Academy of Microbiology; International Member, US National Academy of Sciences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0000" y="4700000"/>
            <a:ext cx="4200000" cy="4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25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53D71-2857-1CBD-FBCE-2A4FCED7F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C141126-FA59-3DC7-2298-A4974FFA75E2}"/>
              </a:ext>
            </a:extLst>
          </p:cNvPr>
          <p:cNvGrpSpPr/>
          <p:nvPr/>
        </p:nvGrpSpPr>
        <p:grpSpPr>
          <a:xfrm>
            <a:off x="0" y="8144"/>
            <a:ext cx="18288000" cy="3912842"/>
            <a:chOff x="0" y="0"/>
            <a:chExt cx="4816593" cy="10305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52ABDA-79DA-9095-7C5D-7A247D047B57}"/>
                </a:ext>
              </a:extLst>
            </p:cNvPr>
            <p:cNvSpPr/>
            <p:nvPr/>
          </p:nvSpPr>
          <p:spPr>
            <a:xfrm>
              <a:off x="0" y="0"/>
              <a:ext cx="4816592" cy="1030543"/>
            </a:xfrm>
            <a:custGeom>
              <a:avLst/>
              <a:gdLst/>
              <a:ahLst/>
              <a:cxnLst/>
              <a:rect l="l" t="t" r="r" b="b"/>
              <a:pathLst>
                <a:path w="4816592" h="1030543">
                  <a:moveTo>
                    <a:pt x="0" y="0"/>
                  </a:moveTo>
                  <a:lnTo>
                    <a:pt x="4816592" y="0"/>
                  </a:lnTo>
                  <a:lnTo>
                    <a:pt x="4816592" y="1030543"/>
                  </a:lnTo>
                  <a:lnTo>
                    <a:pt x="0" y="1030543"/>
                  </a:lnTo>
                  <a:close/>
                </a:path>
              </a:pathLst>
            </a:custGeom>
            <a:solidFill>
              <a:srgbClr val="2377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782860B-AD11-9633-7F9B-745E3DF79957}"/>
                </a:ext>
              </a:extLst>
            </p:cNvPr>
            <p:cNvSpPr txBox="1"/>
            <p:nvPr/>
          </p:nvSpPr>
          <p:spPr>
            <a:xfrm>
              <a:off x="0" y="-38100"/>
              <a:ext cx="4816593" cy="1068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D91B063-3509-AB40-4DE3-3892F1A8E24F}"/>
              </a:ext>
            </a:extLst>
          </p:cNvPr>
          <p:cNvGrpSpPr/>
          <p:nvPr/>
        </p:nvGrpSpPr>
        <p:grpSpPr>
          <a:xfrm>
            <a:off x="0" y="3624109"/>
            <a:ext cx="6212838" cy="288733"/>
            <a:chOff x="0" y="0"/>
            <a:chExt cx="1636303" cy="7604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341CBB2-B96A-4002-9221-36EF995FA902}"/>
                </a:ext>
              </a:extLst>
            </p:cNvPr>
            <p:cNvSpPr/>
            <p:nvPr/>
          </p:nvSpPr>
          <p:spPr>
            <a:xfrm>
              <a:off x="0" y="0"/>
              <a:ext cx="1636303" cy="76045"/>
            </a:xfrm>
            <a:custGeom>
              <a:avLst/>
              <a:gdLst/>
              <a:ahLst/>
              <a:cxnLst/>
              <a:rect l="l" t="t" r="r" b="b"/>
              <a:pathLst>
                <a:path w="1636303" h="76045">
                  <a:moveTo>
                    <a:pt x="0" y="0"/>
                  </a:moveTo>
                  <a:lnTo>
                    <a:pt x="1636303" y="0"/>
                  </a:lnTo>
                  <a:lnTo>
                    <a:pt x="1636303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5EB3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EDB08C0-18E3-E585-2A21-DBBF08A80E03}"/>
                </a:ext>
              </a:extLst>
            </p:cNvPr>
            <p:cNvSpPr txBox="1"/>
            <p:nvPr/>
          </p:nvSpPr>
          <p:spPr>
            <a:xfrm>
              <a:off x="0" y="-38100"/>
              <a:ext cx="1636303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>
            <a:extLst>
              <a:ext uri="{FF2B5EF4-FFF2-40B4-BE49-F238E27FC236}">
                <a16:creationId xmlns:a16="http://schemas.microsoft.com/office/drawing/2014/main" id="{97BAC13C-5AC7-C959-B801-DB3D2D93083F}"/>
              </a:ext>
            </a:extLst>
          </p:cNvPr>
          <p:cNvSpPr/>
          <p:nvPr/>
        </p:nvSpPr>
        <p:spPr>
          <a:xfrm>
            <a:off x="1028700" y="601417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92C0BF20-8A9F-EFBF-BF9F-75E5D8267BD8}"/>
              </a:ext>
            </a:extLst>
          </p:cNvPr>
          <p:cNvSpPr txBox="1"/>
          <p:nvPr/>
        </p:nvSpPr>
        <p:spPr>
          <a:xfrm>
            <a:off x="1028701" y="1401703"/>
            <a:ext cx="16000000" cy="145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 dirty="0">
                <a:solidFill>
                  <a:srgbClr val="FFFFFF"/>
                </a:solidFill>
                <a:latin typeface="National Bold"/>
              </a:rPr>
              <a:t>Thomas Lecuit</a:t>
            </a:r>
          </a:p>
          <a:p>
            <a:pPr>
              <a:lnSpc>
                <a:spcPts val="2600"/>
              </a:lnSpc>
            </a:pPr>
            <a:r>
              <a:rPr lang="en-US" sz="2800" dirty="0">
                <a:solidFill>
                  <a:srgbClr val="FFFFFF"/>
                </a:solidFill>
                <a:latin typeface="Calibri"/>
              </a:rPr>
              <a:t>Independent Member  |  Dynamics of Life Chair, Collège de France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5EABBCE-F591-EA34-291F-B011E71E1B17}"/>
              </a:ext>
            </a:extLst>
          </p:cNvPr>
          <p:cNvSpPr txBox="1"/>
          <p:nvPr/>
        </p:nvSpPr>
        <p:spPr>
          <a:xfrm>
            <a:off x="1028700" y="4514259"/>
            <a:ext cx="10400000" cy="50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457200" indent="-45720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Dynamics of Life Chair, Collège de France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Leads a research team at the Institut de Biologie du Développement de Marseille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Director, Turing Center for Living Systems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Research focuses on the physical and mathematical principles governing cell growth, division, shape and organisation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Fellow, French Academy of Sciences; elected member, European Molecular Biology Organization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0000" y="4700000"/>
            <a:ext cx="4200000" cy="4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25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53D71-2857-1CBD-FBCE-2A4FCED7F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C141126-FA59-3DC7-2298-A4974FFA75E2}"/>
              </a:ext>
            </a:extLst>
          </p:cNvPr>
          <p:cNvGrpSpPr/>
          <p:nvPr/>
        </p:nvGrpSpPr>
        <p:grpSpPr>
          <a:xfrm>
            <a:off x="0" y="8144"/>
            <a:ext cx="18288000" cy="3912842"/>
            <a:chOff x="0" y="0"/>
            <a:chExt cx="4816593" cy="10305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52ABDA-79DA-9095-7C5D-7A247D047B57}"/>
                </a:ext>
              </a:extLst>
            </p:cNvPr>
            <p:cNvSpPr/>
            <p:nvPr/>
          </p:nvSpPr>
          <p:spPr>
            <a:xfrm>
              <a:off x="0" y="0"/>
              <a:ext cx="4816592" cy="1030543"/>
            </a:xfrm>
            <a:custGeom>
              <a:avLst/>
              <a:gdLst/>
              <a:ahLst/>
              <a:cxnLst/>
              <a:rect l="l" t="t" r="r" b="b"/>
              <a:pathLst>
                <a:path w="4816592" h="1030543">
                  <a:moveTo>
                    <a:pt x="0" y="0"/>
                  </a:moveTo>
                  <a:lnTo>
                    <a:pt x="4816592" y="0"/>
                  </a:lnTo>
                  <a:lnTo>
                    <a:pt x="4816592" y="1030543"/>
                  </a:lnTo>
                  <a:lnTo>
                    <a:pt x="0" y="1030543"/>
                  </a:lnTo>
                  <a:close/>
                </a:path>
              </a:pathLst>
            </a:custGeom>
            <a:solidFill>
              <a:srgbClr val="2377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782860B-AD11-9633-7F9B-745E3DF79957}"/>
                </a:ext>
              </a:extLst>
            </p:cNvPr>
            <p:cNvSpPr txBox="1"/>
            <p:nvPr/>
          </p:nvSpPr>
          <p:spPr>
            <a:xfrm>
              <a:off x="0" y="-38100"/>
              <a:ext cx="4816593" cy="1068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D91B063-3509-AB40-4DE3-3892F1A8E24F}"/>
              </a:ext>
            </a:extLst>
          </p:cNvPr>
          <p:cNvGrpSpPr/>
          <p:nvPr/>
        </p:nvGrpSpPr>
        <p:grpSpPr>
          <a:xfrm>
            <a:off x="0" y="3624109"/>
            <a:ext cx="6212838" cy="288733"/>
            <a:chOff x="0" y="0"/>
            <a:chExt cx="1636303" cy="7604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341CBB2-B96A-4002-9221-36EF995FA902}"/>
                </a:ext>
              </a:extLst>
            </p:cNvPr>
            <p:cNvSpPr/>
            <p:nvPr/>
          </p:nvSpPr>
          <p:spPr>
            <a:xfrm>
              <a:off x="0" y="0"/>
              <a:ext cx="1636303" cy="76045"/>
            </a:xfrm>
            <a:custGeom>
              <a:avLst/>
              <a:gdLst/>
              <a:ahLst/>
              <a:cxnLst/>
              <a:rect l="l" t="t" r="r" b="b"/>
              <a:pathLst>
                <a:path w="1636303" h="76045">
                  <a:moveTo>
                    <a:pt x="0" y="0"/>
                  </a:moveTo>
                  <a:lnTo>
                    <a:pt x="1636303" y="0"/>
                  </a:lnTo>
                  <a:lnTo>
                    <a:pt x="1636303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5EB3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EDB08C0-18E3-E585-2A21-DBBF08A80E03}"/>
                </a:ext>
              </a:extLst>
            </p:cNvPr>
            <p:cNvSpPr txBox="1"/>
            <p:nvPr/>
          </p:nvSpPr>
          <p:spPr>
            <a:xfrm>
              <a:off x="0" y="-38100"/>
              <a:ext cx="1636303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>
            <a:extLst>
              <a:ext uri="{FF2B5EF4-FFF2-40B4-BE49-F238E27FC236}">
                <a16:creationId xmlns:a16="http://schemas.microsoft.com/office/drawing/2014/main" id="{97BAC13C-5AC7-C959-B801-DB3D2D93083F}"/>
              </a:ext>
            </a:extLst>
          </p:cNvPr>
          <p:cNvSpPr/>
          <p:nvPr/>
        </p:nvSpPr>
        <p:spPr>
          <a:xfrm>
            <a:off x="1028700" y="601417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92C0BF20-8A9F-EFBF-BF9F-75E5D8267BD8}"/>
              </a:ext>
            </a:extLst>
          </p:cNvPr>
          <p:cNvSpPr txBox="1"/>
          <p:nvPr/>
        </p:nvSpPr>
        <p:spPr>
          <a:xfrm>
            <a:off x="1028701" y="1401703"/>
            <a:ext cx="16000000" cy="145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 dirty="0">
                <a:solidFill>
                  <a:srgbClr val="FFFFFF"/>
                </a:solidFill>
                <a:latin typeface="National Bold"/>
              </a:rPr>
              <a:t>Pamela Silver</a:t>
            </a:r>
          </a:p>
          <a:p>
            <a:pPr>
              <a:lnSpc>
                <a:spcPts val="2600"/>
              </a:lnSpc>
            </a:pPr>
            <a:r>
              <a:rPr lang="en-US" sz="2800" dirty="0">
                <a:solidFill>
                  <a:srgbClr val="FFFFFF"/>
                </a:solidFill>
                <a:latin typeface="Calibri"/>
              </a:rPr>
              <a:t>Independent Member  |  Elliot T. and Onie H. Adams Professor, Harvard Medical School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5EABBCE-F591-EA34-291F-B011E71E1B17}"/>
              </a:ext>
            </a:extLst>
          </p:cNvPr>
          <p:cNvSpPr txBox="1"/>
          <p:nvPr/>
        </p:nvSpPr>
        <p:spPr>
          <a:xfrm>
            <a:off x="1028700" y="4514259"/>
            <a:ext cx="10400000" cy="50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457200" indent="-45720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Elliot T. and Onie H. Adams Professor of Biochemistry and Systems Biology, Harvard Medical School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Founding member, Department of Systems Biology, Harvard Medical School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Builds synthetic cells for sensing, memory, bio-computing and production of high-value compounds and energy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Notable innovations include gut-inflammation-sensing bacteria and the Bionic Leaf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Member, US National Academy of Sciences; first Director, Harvard University Graduate Program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0000" y="4700000"/>
            <a:ext cx="4200000" cy="4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25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53D71-2857-1CBD-FBCE-2A4FCED7F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C141126-FA59-3DC7-2298-A4974FFA75E2}"/>
              </a:ext>
            </a:extLst>
          </p:cNvPr>
          <p:cNvGrpSpPr/>
          <p:nvPr/>
        </p:nvGrpSpPr>
        <p:grpSpPr>
          <a:xfrm>
            <a:off x="0" y="8144"/>
            <a:ext cx="18288000" cy="3912842"/>
            <a:chOff x="0" y="0"/>
            <a:chExt cx="4816593" cy="10305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52ABDA-79DA-9095-7C5D-7A247D047B57}"/>
                </a:ext>
              </a:extLst>
            </p:cNvPr>
            <p:cNvSpPr/>
            <p:nvPr/>
          </p:nvSpPr>
          <p:spPr>
            <a:xfrm>
              <a:off x="0" y="0"/>
              <a:ext cx="4816592" cy="1030543"/>
            </a:xfrm>
            <a:custGeom>
              <a:avLst/>
              <a:gdLst/>
              <a:ahLst/>
              <a:cxnLst/>
              <a:rect l="l" t="t" r="r" b="b"/>
              <a:pathLst>
                <a:path w="4816592" h="1030543">
                  <a:moveTo>
                    <a:pt x="0" y="0"/>
                  </a:moveTo>
                  <a:lnTo>
                    <a:pt x="4816592" y="0"/>
                  </a:lnTo>
                  <a:lnTo>
                    <a:pt x="4816592" y="1030543"/>
                  </a:lnTo>
                  <a:lnTo>
                    <a:pt x="0" y="1030543"/>
                  </a:lnTo>
                  <a:close/>
                </a:path>
              </a:pathLst>
            </a:custGeom>
            <a:solidFill>
              <a:srgbClr val="2377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782860B-AD11-9633-7F9B-745E3DF79957}"/>
                </a:ext>
              </a:extLst>
            </p:cNvPr>
            <p:cNvSpPr txBox="1"/>
            <p:nvPr/>
          </p:nvSpPr>
          <p:spPr>
            <a:xfrm>
              <a:off x="0" y="-38100"/>
              <a:ext cx="4816593" cy="1068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D91B063-3509-AB40-4DE3-3892F1A8E24F}"/>
              </a:ext>
            </a:extLst>
          </p:cNvPr>
          <p:cNvGrpSpPr/>
          <p:nvPr/>
        </p:nvGrpSpPr>
        <p:grpSpPr>
          <a:xfrm>
            <a:off x="0" y="3624109"/>
            <a:ext cx="6212838" cy="288733"/>
            <a:chOff x="0" y="0"/>
            <a:chExt cx="1636303" cy="7604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341CBB2-B96A-4002-9221-36EF995FA902}"/>
                </a:ext>
              </a:extLst>
            </p:cNvPr>
            <p:cNvSpPr/>
            <p:nvPr/>
          </p:nvSpPr>
          <p:spPr>
            <a:xfrm>
              <a:off x="0" y="0"/>
              <a:ext cx="1636303" cy="76045"/>
            </a:xfrm>
            <a:custGeom>
              <a:avLst/>
              <a:gdLst/>
              <a:ahLst/>
              <a:cxnLst/>
              <a:rect l="l" t="t" r="r" b="b"/>
              <a:pathLst>
                <a:path w="1636303" h="76045">
                  <a:moveTo>
                    <a:pt x="0" y="0"/>
                  </a:moveTo>
                  <a:lnTo>
                    <a:pt x="1636303" y="0"/>
                  </a:lnTo>
                  <a:lnTo>
                    <a:pt x="1636303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5EB3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EDB08C0-18E3-E585-2A21-DBBF08A80E03}"/>
                </a:ext>
              </a:extLst>
            </p:cNvPr>
            <p:cNvSpPr txBox="1"/>
            <p:nvPr/>
          </p:nvSpPr>
          <p:spPr>
            <a:xfrm>
              <a:off x="0" y="-38100"/>
              <a:ext cx="1636303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>
            <a:extLst>
              <a:ext uri="{FF2B5EF4-FFF2-40B4-BE49-F238E27FC236}">
                <a16:creationId xmlns:a16="http://schemas.microsoft.com/office/drawing/2014/main" id="{97BAC13C-5AC7-C959-B801-DB3D2D93083F}"/>
              </a:ext>
            </a:extLst>
          </p:cNvPr>
          <p:cNvSpPr/>
          <p:nvPr/>
        </p:nvSpPr>
        <p:spPr>
          <a:xfrm>
            <a:off x="1028700" y="601417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92C0BF20-8A9F-EFBF-BF9F-75E5D8267BD8}"/>
              </a:ext>
            </a:extLst>
          </p:cNvPr>
          <p:cNvSpPr txBox="1"/>
          <p:nvPr/>
        </p:nvSpPr>
        <p:spPr>
          <a:xfrm>
            <a:off x="1028701" y="1401703"/>
            <a:ext cx="16000000" cy="145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 dirty="0">
                <a:solidFill>
                  <a:srgbClr val="FFFFFF"/>
                </a:solidFill>
                <a:latin typeface="National Bold"/>
              </a:rPr>
              <a:t>Olga Troyanskaya</a:t>
            </a:r>
          </a:p>
          <a:p>
            <a:pPr>
              <a:lnSpc>
                <a:spcPts val="2600"/>
              </a:lnSpc>
            </a:pPr>
            <a:r>
              <a:rPr lang="en-US" sz="2800" dirty="0">
                <a:solidFill>
                  <a:srgbClr val="FFFFFF"/>
                </a:solidFill>
                <a:latin typeface="Calibri"/>
              </a:rPr>
              <a:t>Independent Member  |  Professor of Computer Science &amp; Genomics, Princeton University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5EABBCE-F591-EA34-291F-B011E71E1B17}"/>
              </a:ext>
            </a:extLst>
          </p:cNvPr>
          <p:cNvSpPr txBox="1"/>
          <p:nvPr/>
        </p:nvSpPr>
        <p:spPr>
          <a:xfrm>
            <a:off x="1028700" y="4514259"/>
            <a:ext cx="10400000" cy="50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457200" indent="-45720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Maduraperuma/Khot Professor of Computer Science &amp; Genomics, Princeton University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Founding Director, Princeton Precision Health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Deputy Director for Genomics, Flatiron Institute of the Simons Foundation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Develops AI and data-driven methods to decode the genome and enable precision medicine — spanning autism, cancer and kidney disease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Honours include the Sloan Research Fellowship, an NSF CAREER Award, and the Overton Prize (ISCB)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0000" y="4700000"/>
            <a:ext cx="4200000" cy="4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25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53D71-2857-1CBD-FBCE-2A4FCED7F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C141126-FA59-3DC7-2298-A4974FFA75E2}"/>
              </a:ext>
            </a:extLst>
          </p:cNvPr>
          <p:cNvGrpSpPr/>
          <p:nvPr/>
        </p:nvGrpSpPr>
        <p:grpSpPr>
          <a:xfrm>
            <a:off x="0" y="8144"/>
            <a:ext cx="18288000" cy="3912842"/>
            <a:chOff x="0" y="0"/>
            <a:chExt cx="4816593" cy="10305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52ABDA-79DA-9095-7C5D-7A247D047B57}"/>
                </a:ext>
              </a:extLst>
            </p:cNvPr>
            <p:cNvSpPr/>
            <p:nvPr/>
          </p:nvSpPr>
          <p:spPr>
            <a:xfrm>
              <a:off x="0" y="0"/>
              <a:ext cx="4816592" cy="1030543"/>
            </a:xfrm>
            <a:custGeom>
              <a:avLst/>
              <a:gdLst/>
              <a:ahLst/>
              <a:cxnLst/>
              <a:rect l="l" t="t" r="r" b="b"/>
              <a:pathLst>
                <a:path w="4816592" h="1030543">
                  <a:moveTo>
                    <a:pt x="0" y="0"/>
                  </a:moveTo>
                  <a:lnTo>
                    <a:pt x="4816592" y="0"/>
                  </a:lnTo>
                  <a:lnTo>
                    <a:pt x="4816592" y="1030543"/>
                  </a:lnTo>
                  <a:lnTo>
                    <a:pt x="0" y="1030543"/>
                  </a:lnTo>
                  <a:close/>
                </a:path>
              </a:pathLst>
            </a:custGeom>
            <a:solidFill>
              <a:srgbClr val="2377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782860B-AD11-9633-7F9B-745E3DF79957}"/>
                </a:ext>
              </a:extLst>
            </p:cNvPr>
            <p:cNvSpPr txBox="1"/>
            <p:nvPr/>
          </p:nvSpPr>
          <p:spPr>
            <a:xfrm>
              <a:off x="0" y="-38100"/>
              <a:ext cx="4816593" cy="1068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D91B063-3509-AB40-4DE3-3892F1A8E24F}"/>
              </a:ext>
            </a:extLst>
          </p:cNvPr>
          <p:cNvGrpSpPr/>
          <p:nvPr/>
        </p:nvGrpSpPr>
        <p:grpSpPr>
          <a:xfrm>
            <a:off x="0" y="3624109"/>
            <a:ext cx="6212838" cy="288733"/>
            <a:chOff x="0" y="0"/>
            <a:chExt cx="1636303" cy="7604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341CBB2-B96A-4002-9221-36EF995FA902}"/>
                </a:ext>
              </a:extLst>
            </p:cNvPr>
            <p:cNvSpPr/>
            <p:nvPr/>
          </p:nvSpPr>
          <p:spPr>
            <a:xfrm>
              <a:off x="0" y="0"/>
              <a:ext cx="1636303" cy="76045"/>
            </a:xfrm>
            <a:custGeom>
              <a:avLst/>
              <a:gdLst/>
              <a:ahLst/>
              <a:cxnLst/>
              <a:rect l="l" t="t" r="r" b="b"/>
              <a:pathLst>
                <a:path w="1636303" h="76045">
                  <a:moveTo>
                    <a:pt x="0" y="0"/>
                  </a:moveTo>
                  <a:lnTo>
                    <a:pt x="1636303" y="0"/>
                  </a:lnTo>
                  <a:lnTo>
                    <a:pt x="1636303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5EB3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EDB08C0-18E3-E585-2A21-DBBF08A80E03}"/>
                </a:ext>
              </a:extLst>
            </p:cNvPr>
            <p:cNvSpPr txBox="1"/>
            <p:nvPr/>
          </p:nvSpPr>
          <p:spPr>
            <a:xfrm>
              <a:off x="0" y="-38100"/>
              <a:ext cx="1636303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>
            <a:extLst>
              <a:ext uri="{FF2B5EF4-FFF2-40B4-BE49-F238E27FC236}">
                <a16:creationId xmlns:a16="http://schemas.microsoft.com/office/drawing/2014/main" id="{97BAC13C-5AC7-C959-B801-DB3D2D93083F}"/>
              </a:ext>
            </a:extLst>
          </p:cNvPr>
          <p:cNvSpPr/>
          <p:nvPr/>
        </p:nvSpPr>
        <p:spPr>
          <a:xfrm>
            <a:off x="1028700" y="601417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92C0BF20-8A9F-EFBF-BF9F-75E5D8267BD8}"/>
              </a:ext>
            </a:extLst>
          </p:cNvPr>
          <p:cNvSpPr txBox="1"/>
          <p:nvPr/>
        </p:nvSpPr>
        <p:spPr>
          <a:xfrm>
            <a:off x="1028701" y="1401703"/>
            <a:ext cx="16000000" cy="145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 dirty="0">
                <a:solidFill>
                  <a:srgbClr val="FFFFFF"/>
                </a:solidFill>
                <a:latin typeface="National Bold"/>
              </a:rPr>
              <a:t>David Wishart</a:t>
            </a:r>
          </a:p>
          <a:p>
            <a:pPr>
              <a:lnSpc>
                <a:spcPts val="2600"/>
              </a:lnSpc>
            </a:pPr>
            <a:r>
              <a:rPr lang="en-US" sz="2800" dirty="0">
                <a:solidFill>
                  <a:srgbClr val="FFFFFF"/>
                </a:solidFill>
                <a:latin typeface="Calibri"/>
              </a:rPr>
              <a:t>Independent Member  |  Distinguished University Professor, University of Alberta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5EABBCE-F591-EA34-291F-B011E71E1B17}"/>
              </a:ext>
            </a:extLst>
          </p:cNvPr>
          <p:cNvSpPr txBox="1"/>
          <p:nvPr/>
        </p:nvSpPr>
        <p:spPr>
          <a:xfrm>
            <a:off x="1028700" y="4514259"/>
            <a:ext cx="10400000" cy="50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457200" indent="-457200">
              <a:lnSpc>
                <a:spcPts val="32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Distinguished University Professor, University of Alberta (Biological Sciences &amp; Computing Science)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Research spans metabolomics, analytical chemistry, molecular biology and neuroscience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Developed widely used NMR, mass spectrometry and chromatography techniques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Pioneers AI/ML methods for identifying unknown metabolites and metabolic pathways</a:t>
            </a:r>
          </a:p>
          <a:p>
            <a:pPr marL="457200" indent="-457200">
              <a:lnSpc>
                <a:spcPts val="32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Fellow, Royal Society of Canada; former Chair, Metabolomics Australia ISAB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0000" y="4700000"/>
            <a:ext cx="4200000" cy="4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25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53D71-2857-1CBD-FBCE-2A4FCED7F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C141126-FA59-3DC7-2298-A4974FFA75E2}"/>
              </a:ext>
            </a:extLst>
          </p:cNvPr>
          <p:cNvGrpSpPr/>
          <p:nvPr/>
        </p:nvGrpSpPr>
        <p:grpSpPr>
          <a:xfrm>
            <a:off x="0" y="8144"/>
            <a:ext cx="18288000" cy="3912842"/>
            <a:chOff x="0" y="0"/>
            <a:chExt cx="4816593" cy="10305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52ABDA-79DA-9095-7C5D-7A247D047B57}"/>
                </a:ext>
              </a:extLst>
            </p:cNvPr>
            <p:cNvSpPr/>
            <p:nvPr/>
          </p:nvSpPr>
          <p:spPr>
            <a:xfrm>
              <a:off x="0" y="0"/>
              <a:ext cx="4816592" cy="1030543"/>
            </a:xfrm>
            <a:custGeom>
              <a:avLst/>
              <a:gdLst/>
              <a:ahLst/>
              <a:cxnLst/>
              <a:rect l="l" t="t" r="r" b="b"/>
              <a:pathLst>
                <a:path w="4816592" h="1030543">
                  <a:moveTo>
                    <a:pt x="0" y="0"/>
                  </a:moveTo>
                  <a:lnTo>
                    <a:pt x="4816592" y="0"/>
                  </a:lnTo>
                  <a:lnTo>
                    <a:pt x="4816592" y="1030543"/>
                  </a:lnTo>
                  <a:lnTo>
                    <a:pt x="0" y="1030543"/>
                  </a:lnTo>
                  <a:close/>
                </a:path>
              </a:pathLst>
            </a:custGeom>
            <a:solidFill>
              <a:srgbClr val="2377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782860B-AD11-9633-7F9B-745E3DF79957}"/>
                </a:ext>
              </a:extLst>
            </p:cNvPr>
            <p:cNvSpPr txBox="1"/>
            <p:nvPr/>
          </p:nvSpPr>
          <p:spPr>
            <a:xfrm>
              <a:off x="0" y="-38100"/>
              <a:ext cx="4816593" cy="1068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D91B063-3509-AB40-4DE3-3892F1A8E24F}"/>
              </a:ext>
            </a:extLst>
          </p:cNvPr>
          <p:cNvGrpSpPr/>
          <p:nvPr/>
        </p:nvGrpSpPr>
        <p:grpSpPr>
          <a:xfrm>
            <a:off x="0" y="3624109"/>
            <a:ext cx="6212838" cy="288733"/>
            <a:chOff x="0" y="0"/>
            <a:chExt cx="1636303" cy="7604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341CBB2-B96A-4002-9221-36EF995FA902}"/>
                </a:ext>
              </a:extLst>
            </p:cNvPr>
            <p:cNvSpPr/>
            <p:nvPr/>
          </p:nvSpPr>
          <p:spPr>
            <a:xfrm>
              <a:off x="0" y="0"/>
              <a:ext cx="1636303" cy="76045"/>
            </a:xfrm>
            <a:custGeom>
              <a:avLst/>
              <a:gdLst/>
              <a:ahLst/>
              <a:cxnLst/>
              <a:rect l="l" t="t" r="r" b="b"/>
              <a:pathLst>
                <a:path w="1636303" h="76045">
                  <a:moveTo>
                    <a:pt x="0" y="0"/>
                  </a:moveTo>
                  <a:lnTo>
                    <a:pt x="1636303" y="0"/>
                  </a:lnTo>
                  <a:lnTo>
                    <a:pt x="1636303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5EB3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EDB08C0-18E3-E585-2A21-DBBF08A80E03}"/>
                </a:ext>
              </a:extLst>
            </p:cNvPr>
            <p:cNvSpPr txBox="1"/>
            <p:nvPr/>
          </p:nvSpPr>
          <p:spPr>
            <a:xfrm>
              <a:off x="0" y="-38100"/>
              <a:ext cx="1636303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>
            <a:extLst>
              <a:ext uri="{FF2B5EF4-FFF2-40B4-BE49-F238E27FC236}">
                <a16:creationId xmlns:a16="http://schemas.microsoft.com/office/drawing/2014/main" id="{97BAC13C-5AC7-C959-B801-DB3D2D93083F}"/>
              </a:ext>
            </a:extLst>
          </p:cNvPr>
          <p:cNvSpPr/>
          <p:nvPr/>
        </p:nvSpPr>
        <p:spPr>
          <a:xfrm>
            <a:off x="1028700" y="601417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92C0BF20-8A9F-EFBF-BF9F-75E5D8267BD8}"/>
              </a:ext>
            </a:extLst>
          </p:cNvPr>
          <p:cNvSpPr txBox="1"/>
          <p:nvPr/>
        </p:nvSpPr>
        <p:spPr>
          <a:xfrm>
            <a:off x="1028701" y="1401703"/>
            <a:ext cx="14000000" cy="145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>
                <a:solidFill>
                  <a:srgbClr val="FFFFFF"/>
                </a:solidFill>
                <a:latin typeface="National Bold"/>
              </a:rPr>
              <a:t>Meeting Agenda</a:t>
            </a:r>
            <a:endParaRPr lang="en-US" sz="5599" dirty="0">
              <a:solidFill>
                <a:srgbClr val="FFFFFF"/>
              </a:solidFill>
              <a:latin typeface="National Bold"/>
            </a:endParaRPr>
          </a:p>
          <a:p>
            <a:pPr>
              <a:lnSpc>
                <a:spcPts val="2600"/>
              </a:lnSpc>
            </a:pPr>
            <a:r>
              <a:rPr lang="en-US" sz="2800" dirty="0">
                <a:solidFill>
                  <a:srgbClr val="FFFFFF"/>
                </a:solidFill>
                <a:latin typeface="Calibri"/>
              </a:rPr>
              <a:t>Wednesday 12 August 2026  |  5:00–8:00am AEST  |  Video Conference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EABBCE-F591-EA34-291F-B011E71E1B97}"/>
              </a:ext>
            </a:extLst>
          </p:cNvPr>
          <p:cNvSpPr txBox="1"/>
          <p:nvPr/>
        </p:nvSpPr>
        <p:spPr>
          <a:xfrm>
            <a:off x="1028700" y="4514259"/>
            <a:ext cx="15499511" cy="56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200"/>
              </a:lnSpc>
            </a:pPr>
            <a:r>
              <a:rPr lang="en-AU" sz="2800" b="1" dirty="0"/>
              <a:t>5:00</a:t>
            </a:r>
            <a:r>
              <a:rPr lang="en-AU" sz="2800" dirty="0"/>
              <a:t>  Welcome &amp; Centre Overview — Prof Jen Flegg</a:t>
            </a:r>
            <a:r>
              <a:rPr lang="en-AU" sz="2800"/>
              <a:t>, Strategic </a:t>
            </a:r>
            <a:r>
              <a:rPr lang="en-AU" sz="2800" dirty="0"/>
              <a:t>Research Committee Chair (15 min)</a:t>
            </a:r>
          </a:p>
          <a:p>
            <a:pPr>
              <a:lnSpc>
                <a:spcPts val="3200"/>
              </a:lnSpc>
              <a:spcBef>
                <a:spcPts val="1000"/>
              </a:spcBef>
            </a:pPr>
            <a:r>
              <a:rPr lang="en-AU" sz="2800" b="1" dirty="0"/>
              <a:t>5:15</a:t>
            </a:r>
            <a:r>
              <a:rPr lang="en-AU" sz="2800" dirty="0"/>
              <a:t>  Research Fellow Presentations &amp; ISAB Q&amp;A (15 min presentation + 10 min Q&amp;A each)</a:t>
            </a:r>
          </a:p>
          <a:p>
            <a:pPr marL="457200" indent="-457200">
              <a:lnSpc>
                <a:spcPts val="3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5:15 — Dr Alex Sneddon, ANU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5:40 — Dr Hilary Hunt, QUT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6:05 — Dr Josh Hamey, UNSW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6:30 — Dr Anthony Hart, Monash</a:t>
            </a:r>
          </a:p>
          <a:p>
            <a:pPr marL="457200" indent="-4572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AU" sz="2800" dirty="0"/>
              <a:t>6:55 — Dr Tom Kimpson, University of Melbourne</a:t>
            </a:r>
          </a:p>
          <a:p>
            <a:pPr>
              <a:lnSpc>
                <a:spcPts val="3200"/>
              </a:lnSpc>
              <a:spcBef>
                <a:spcPts val="1000"/>
              </a:spcBef>
            </a:pPr>
            <a:r>
              <a:rPr lang="en-AU" sz="2800" b="1" dirty="0"/>
              <a:t>7:20</a:t>
            </a:r>
            <a:r>
              <a:rPr lang="en-AU" sz="2800" dirty="0"/>
              <a:t>  Open Discussion &amp; Wrap-up (40 min)</a:t>
            </a:r>
          </a:p>
          <a:p>
            <a:pPr>
              <a:lnSpc>
                <a:spcPts val="3200"/>
              </a:lnSpc>
            </a:pPr>
            <a:r>
              <a:rPr lang="en-AU" sz="2800" b="1" dirty="0"/>
              <a:t>8:00</a:t>
            </a:r>
            <a:r>
              <a:rPr lang="en-AU" sz="2800" dirty="0"/>
              <a:t>  Meeting Concludes</a:t>
            </a:r>
          </a:p>
        </p:txBody>
      </p:sp>
    </p:spTree>
    <p:extLst>
      <p:ext uri="{BB962C8B-B14F-4D97-AF65-F5344CB8AC3E}">
        <p14:creationId xmlns:p14="http://schemas.microsoft.com/office/powerpoint/2010/main" val="2483025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53D71-2857-1CBD-FBCE-2A4FCED7F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C141126-FA59-3DC7-2298-A4974FFA75E2}"/>
              </a:ext>
            </a:extLst>
          </p:cNvPr>
          <p:cNvGrpSpPr/>
          <p:nvPr/>
        </p:nvGrpSpPr>
        <p:grpSpPr>
          <a:xfrm>
            <a:off x="0" y="8144"/>
            <a:ext cx="18288000" cy="3912842"/>
            <a:chOff x="0" y="0"/>
            <a:chExt cx="4816593" cy="10305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52ABDA-79DA-9095-7C5D-7A247D047B57}"/>
                </a:ext>
              </a:extLst>
            </p:cNvPr>
            <p:cNvSpPr/>
            <p:nvPr/>
          </p:nvSpPr>
          <p:spPr>
            <a:xfrm>
              <a:off x="0" y="0"/>
              <a:ext cx="4816592" cy="1030543"/>
            </a:xfrm>
            <a:custGeom>
              <a:avLst/>
              <a:gdLst/>
              <a:ahLst/>
              <a:cxnLst/>
              <a:rect l="l" t="t" r="r" b="b"/>
              <a:pathLst>
                <a:path w="4816592" h="1030543">
                  <a:moveTo>
                    <a:pt x="0" y="0"/>
                  </a:moveTo>
                  <a:lnTo>
                    <a:pt x="4816592" y="0"/>
                  </a:lnTo>
                  <a:lnTo>
                    <a:pt x="4816592" y="1030543"/>
                  </a:lnTo>
                  <a:lnTo>
                    <a:pt x="0" y="1030543"/>
                  </a:lnTo>
                  <a:close/>
                </a:path>
              </a:pathLst>
            </a:custGeom>
            <a:solidFill>
              <a:srgbClr val="23779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782860B-AD11-9633-7F9B-745E3DF79957}"/>
                </a:ext>
              </a:extLst>
            </p:cNvPr>
            <p:cNvSpPr txBox="1"/>
            <p:nvPr/>
          </p:nvSpPr>
          <p:spPr>
            <a:xfrm>
              <a:off x="0" y="-38100"/>
              <a:ext cx="4816593" cy="1068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D91B063-3509-AB40-4DE3-3892F1A8E24F}"/>
              </a:ext>
            </a:extLst>
          </p:cNvPr>
          <p:cNvGrpSpPr/>
          <p:nvPr/>
        </p:nvGrpSpPr>
        <p:grpSpPr>
          <a:xfrm>
            <a:off x="0" y="3624109"/>
            <a:ext cx="6212838" cy="288733"/>
            <a:chOff x="0" y="0"/>
            <a:chExt cx="1636303" cy="7604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341CBB2-B96A-4002-9221-36EF995FA902}"/>
                </a:ext>
              </a:extLst>
            </p:cNvPr>
            <p:cNvSpPr/>
            <p:nvPr/>
          </p:nvSpPr>
          <p:spPr>
            <a:xfrm>
              <a:off x="0" y="0"/>
              <a:ext cx="1636303" cy="76045"/>
            </a:xfrm>
            <a:custGeom>
              <a:avLst/>
              <a:gdLst/>
              <a:ahLst/>
              <a:cxnLst/>
              <a:rect l="l" t="t" r="r" b="b"/>
              <a:pathLst>
                <a:path w="1636303" h="76045">
                  <a:moveTo>
                    <a:pt x="0" y="0"/>
                  </a:moveTo>
                  <a:lnTo>
                    <a:pt x="1636303" y="0"/>
                  </a:lnTo>
                  <a:lnTo>
                    <a:pt x="1636303" y="76045"/>
                  </a:lnTo>
                  <a:lnTo>
                    <a:pt x="0" y="76045"/>
                  </a:lnTo>
                  <a:close/>
                </a:path>
              </a:pathLst>
            </a:custGeom>
            <a:solidFill>
              <a:srgbClr val="5EB3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EDB08C0-18E3-E585-2A21-DBBF08A80E03}"/>
                </a:ext>
              </a:extLst>
            </p:cNvPr>
            <p:cNvSpPr txBox="1"/>
            <p:nvPr/>
          </p:nvSpPr>
          <p:spPr>
            <a:xfrm>
              <a:off x="0" y="-38100"/>
              <a:ext cx="1636303" cy="114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AutoShape 9">
            <a:extLst>
              <a:ext uri="{FF2B5EF4-FFF2-40B4-BE49-F238E27FC236}">
                <a16:creationId xmlns:a16="http://schemas.microsoft.com/office/drawing/2014/main" id="{97BAC13C-5AC7-C959-B801-DB3D2D93083F}"/>
              </a:ext>
            </a:extLst>
          </p:cNvPr>
          <p:cNvSpPr/>
          <p:nvPr/>
        </p:nvSpPr>
        <p:spPr>
          <a:xfrm>
            <a:off x="1028700" y="601417"/>
            <a:ext cx="16230600" cy="0"/>
          </a:xfrm>
          <a:prstGeom prst="line">
            <a:avLst/>
          </a:prstGeom>
          <a:ln w="1905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92C0BF20-8A9F-EFBF-BF9F-75E5D8267BD8}"/>
              </a:ext>
            </a:extLst>
          </p:cNvPr>
          <p:cNvSpPr txBox="1"/>
          <p:nvPr/>
        </p:nvSpPr>
        <p:spPr>
          <a:xfrm>
            <a:off x="1028701" y="1401703"/>
            <a:ext cx="14000000" cy="12040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719"/>
              </a:lnSpc>
            </a:pPr>
            <a:r>
              <a:rPr lang="en-US" sz="5599" dirty="0">
                <a:solidFill>
                  <a:srgbClr val="FFFFFF"/>
                </a:solidFill>
                <a:latin typeface="National Bold"/>
              </a:rPr>
              <a:t>Meeting Purpose</a:t>
            </a:r>
          </a:p>
          <a:p>
            <a:pPr>
              <a:lnSpc>
                <a:spcPts val="2600"/>
              </a:lnSpc>
            </a:pPr>
            <a:r>
              <a:rPr lang="en-US" sz="2800" dirty="0">
                <a:solidFill>
                  <a:srgbClr val="FFFFFF"/>
                </a:solidFill>
                <a:latin typeface="Calibri"/>
              </a:rPr>
              <a:t>Wednesday 12 August 2026  |  5:00–8:00am AEST  |  Video Conference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EABBCE-F591-EA34-291F-B011E71E1B97}"/>
              </a:ext>
            </a:extLst>
          </p:cNvPr>
          <p:cNvSpPr txBox="1"/>
          <p:nvPr/>
        </p:nvSpPr>
        <p:spPr>
          <a:xfrm>
            <a:off x="820586" y="4514259"/>
            <a:ext cx="16646824" cy="485447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457200" indent="-457200">
              <a:lnSpc>
                <a:spcPts val="34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Purpose</a:t>
            </a:r>
          </a:p>
          <a:p>
            <a:pPr marL="914400" lvl="1" indent="-457200">
              <a:lnSpc>
                <a:spcPts val="34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to seek the ISAB’s feedback and advice on MACSYS research aims, activities and projects.</a:t>
            </a:r>
          </a:p>
          <a:p>
            <a:pPr marL="914400" lvl="1" indent="-457200">
              <a:lnSpc>
                <a:spcPts val="34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Set priorities for Strategic research in 2027</a:t>
            </a:r>
          </a:p>
          <a:p>
            <a:pPr marL="457200" indent="-457200">
              <a:lnSpc>
                <a:spcPts val="34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AU" sz="2800" dirty="0"/>
              <a:t>Format: short presentations from research fellows, with time for ISAB questions and feedback after each</a:t>
            </a:r>
          </a:p>
          <a:p>
            <a:pPr>
              <a:lnSpc>
                <a:spcPts val="3400"/>
              </a:lnSpc>
              <a:spcBef>
                <a:spcPts val="1200"/>
              </a:spcBef>
            </a:pPr>
            <a:endParaRPr lang="en-AU" sz="2800" b="1" dirty="0"/>
          </a:p>
          <a:p>
            <a:pPr>
              <a:lnSpc>
                <a:spcPts val="3400"/>
              </a:lnSpc>
              <a:spcBef>
                <a:spcPts val="1200"/>
              </a:spcBef>
            </a:pPr>
            <a:endParaRPr lang="en-AU" sz="2800" b="1" dirty="0"/>
          </a:p>
          <a:p>
            <a:pPr algn="ctr">
              <a:lnSpc>
                <a:spcPts val="3400"/>
              </a:lnSpc>
              <a:spcBef>
                <a:spcPts val="1200"/>
              </a:spcBef>
            </a:pPr>
            <a:r>
              <a:rPr lang="en-AU" sz="2800" b="1" dirty="0"/>
              <a:t>Questions?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483025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b4b5dc6-7355-4b26-8e60-bb3e8b6e76df">
      <Terms xmlns="http://schemas.microsoft.com/office/infopath/2007/PartnerControls"/>
    </lcf76f155ced4ddcb4097134ff3c332f>
    <TaxCatchAll xmlns="516437e4-1b6a-4f0d-acc6-84cbb261cd3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48B561EB86864497C49D669518D707" ma:contentTypeVersion="18" ma:contentTypeDescription="Create a new document." ma:contentTypeScope="" ma:versionID="4d04baccf802be8f509d786e28c4a9c5">
  <xsd:schema xmlns:xsd="http://www.w3.org/2001/XMLSchema" xmlns:xs="http://www.w3.org/2001/XMLSchema" xmlns:p="http://schemas.microsoft.com/office/2006/metadata/properties" xmlns:ns2="7b4b5dc6-7355-4b26-8e60-bb3e8b6e76df" xmlns:ns3="516437e4-1b6a-4f0d-acc6-84cbb261cd32" targetNamespace="http://schemas.microsoft.com/office/2006/metadata/properties" ma:root="true" ma:fieldsID="d4c632bfa7b096d33c516213d28f88b4" ns2:_="" ns3:_="">
    <xsd:import namespace="7b4b5dc6-7355-4b26-8e60-bb3e8b6e76df"/>
    <xsd:import namespace="516437e4-1b6a-4f0d-acc6-84cbb261cd3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4b5dc6-7355-4b26-8e60-bb3e8b6e76df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db163b37-248a-4bdb-8038-6e8df1cc47a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6437e4-1b6a-4f0d-acc6-84cbb261cd3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e7351d0f-1954-4467-9be8-fa10de2845b9}" ma:internalName="TaxCatchAll" ma:showField="CatchAllData" ma:web="516437e4-1b6a-4f0d-acc6-84cbb261cd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58B928-D02C-4283-A120-BE969809FF04}">
  <ds:schemaRefs>
    <ds:schemaRef ds:uri="7b4b5dc6-7355-4b26-8e60-bb3e8b6e76df"/>
    <ds:schemaRef ds:uri="http://schemas.openxmlformats.org/package/2006/metadata/core-properties"/>
    <ds:schemaRef ds:uri="http://purl.org/dc/elements/1.1/"/>
    <ds:schemaRef ds:uri="516437e4-1b6a-4f0d-acc6-84cbb261cd32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D08DD77-1878-4105-A850-F209059E23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4b5dc6-7355-4b26-8e60-bb3e8b6e76df"/>
    <ds:schemaRef ds:uri="516437e4-1b6a-4f0d-acc6-84cbb261cd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CB8EC9-3663-4F48-8FC7-471A21FAA4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3047</TotalTime>
  <Words>855</Words>
  <Application>Microsoft Macintosh PowerPoint</Application>
  <PresentationFormat>Custom</PresentationFormat>
  <Paragraphs>86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National Bold</vt:lpstr>
      <vt:lpstr>Calibri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MACSYS_presentation_template</dc:title>
  <cp:lastModifiedBy>Jennifer Flegg</cp:lastModifiedBy>
  <cp:revision>68</cp:revision>
  <dcterms:created xsi:type="dcterms:W3CDTF">2006-08-16T00:00:00Z</dcterms:created>
  <dcterms:modified xsi:type="dcterms:W3CDTF">2026-07-15T02:44:45Z</dcterms:modified>
  <dc:identifier>DAFuerKCZ6I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0x0101008C48B561EB86864497C49D669518D707</vt:lpwstr>
  </property>
  <property fmtid="{D5CDD505-2E9C-101B-9397-08002B2CF9AE}" pid="3" name="MediaServiceImageTags">
    <vt:lpwstr/>
  </property>
</Properties>
</file>